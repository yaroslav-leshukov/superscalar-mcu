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300" r:id="rId3"/>
    <p:sldId id="258" r:id="rId4"/>
    <p:sldId id="278" r:id="rId5"/>
    <p:sldId id="262" r:id="rId6"/>
    <p:sldId id="290" r:id="rId7"/>
    <p:sldId id="292" r:id="rId8"/>
    <p:sldId id="288" r:id="rId9"/>
    <p:sldId id="279" r:id="rId10"/>
    <p:sldId id="280" r:id="rId11"/>
    <p:sldId id="281" r:id="rId12"/>
    <p:sldId id="287" r:id="rId13"/>
    <p:sldId id="266" r:id="rId14"/>
    <p:sldId id="272" r:id="rId15"/>
    <p:sldId id="273" r:id="rId16"/>
    <p:sldId id="301" r:id="rId17"/>
    <p:sldId id="276" r:id="rId18"/>
    <p:sldId id="299" r:id="rId19"/>
    <p:sldId id="261" r:id="rId20"/>
    <p:sldId id="282" r:id="rId21"/>
    <p:sldId id="263" r:id="rId22"/>
    <p:sldId id="264" r:id="rId23"/>
    <p:sldId id="265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EFCE"/>
    <a:srgbClr val="C6E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 autoAdjust="0"/>
    <p:restoredTop sz="94658" autoAdjust="0"/>
  </p:normalViewPr>
  <p:slideViewPr>
    <p:cSldViewPr snapToGrid="0">
      <p:cViewPr varScale="1">
        <p:scale>
          <a:sx n="120" d="100"/>
          <a:sy n="120" d="100"/>
        </p:scale>
        <p:origin x="92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.leshukov\Desktop\Model_s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.leshukov\Desktop\Model_s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.leshukov\Desktop\Model_s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.leshukov\Desktop\Model_s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.leshukov\Desktop\Model_s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.leshukov\Desktop\Model_s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Coremark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hiperf_32_1_fu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Sheet1!$D$20:$D$22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Sheet1!$E$20:$E$22</c:f>
              <c:numCache>
                <c:formatCode>General</c:formatCode>
                <c:ptCount val="3"/>
                <c:pt idx="0">
                  <c:v>3.8</c:v>
                </c:pt>
                <c:pt idx="1">
                  <c:v>3.43</c:v>
                </c:pt>
                <c:pt idx="2">
                  <c:v>3.43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190-4149-90D9-558AD7E08A6F}"/>
            </c:ext>
          </c:extLst>
        </c:ser>
        <c:ser>
          <c:idx val="1"/>
          <c:order val="1"/>
          <c:tx>
            <c:v>hiperf_32_x_fu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Sheet1!$D$20:$D$22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Sheet1!$F$20:$F$22</c:f>
              <c:numCache>
                <c:formatCode>General</c:formatCode>
                <c:ptCount val="3"/>
                <c:pt idx="0">
                  <c:v>13.4</c:v>
                </c:pt>
                <c:pt idx="1">
                  <c:v>19.829999999999998</c:v>
                </c:pt>
                <c:pt idx="2">
                  <c:v>17.61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190-4149-90D9-558AD7E08A6F}"/>
            </c:ext>
          </c:extLst>
        </c:ser>
        <c:ser>
          <c:idx val="2"/>
          <c:order val="2"/>
          <c:tx>
            <c:v>hiperf_64_1_fu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Sheet1!$D$20:$D$22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Sheet1!$G$20:$G$22</c:f>
              <c:numCache>
                <c:formatCode>General</c:formatCode>
                <c:ptCount val="3"/>
                <c:pt idx="0">
                  <c:v>3.98</c:v>
                </c:pt>
                <c:pt idx="1">
                  <c:v>4.28</c:v>
                </c:pt>
                <c:pt idx="2">
                  <c:v>4.28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190-4149-90D9-558AD7E08A6F}"/>
            </c:ext>
          </c:extLst>
        </c:ser>
        <c:ser>
          <c:idx val="3"/>
          <c:order val="3"/>
          <c:tx>
            <c:v>hiperf_64_x_fu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Sheet1!$D$20:$D$22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Sheet1!$H$20:$H$22</c:f>
              <c:numCache>
                <c:formatCode>General</c:formatCode>
                <c:ptCount val="3"/>
                <c:pt idx="0">
                  <c:v>15.69</c:v>
                </c:pt>
                <c:pt idx="1">
                  <c:v>24.25</c:v>
                </c:pt>
                <c:pt idx="2">
                  <c:v>22.6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190-4149-90D9-558AD7E08A6F}"/>
            </c:ext>
          </c:extLst>
        </c:ser>
        <c:ser>
          <c:idx val="4"/>
          <c:order val="4"/>
          <c:tx>
            <c:v>hifreq_32_1_fu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Sheet1!$D$20:$D$22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Sheet1!$I$20:$I$22</c:f>
              <c:numCache>
                <c:formatCode>General</c:formatCode>
                <c:ptCount val="3"/>
                <c:pt idx="0">
                  <c:v>2.0699999999999998</c:v>
                </c:pt>
                <c:pt idx="1">
                  <c:v>2.17</c:v>
                </c:pt>
                <c:pt idx="2">
                  <c:v>2.17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0190-4149-90D9-558AD7E08A6F}"/>
            </c:ext>
          </c:extLst>
        </c:ser>
        <c:ser>
          <c:idx val="5"/>
          <c:order val="5"/>
          <c:tx>
            <c:v>hifreq_32_x_fu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Sheet1!$D$20:$D$22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Sheet1!$J$20:$J$22</c:f>
              <c:numCache>
                <c:formatCode>General</c:formatCode>
                <c:ptCount val="3"/>
                <c:pt idx="0">
                  <c:v>8.5399999999999991</c:v>
                </c:pt>
                <c:pt idx="1">
                  <c:v>11.88</c:v>
                </c:pt>
                <c:pt idx="2">
                  <c:v>10.48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0190-4149-90D9-558AD7E08A6F}"/>
            </c:ext>
          </c:extLst>
        </c:ser>
        <c:ser>
          <c:idx val="6"/>
          <c:order val="6"/>
          <c:tx>
            <c:v>hifreq_64_1_fu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Sheet1!$D$20:$D$22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Sheet1!$K$20:$K$22</c:f>
              <c:numCache>
                <c:formatCode>General</c:formatCode>
                <c:ptCount val="3"/>
                <c:pt idx="0">
                  <c:v>2.25</c:v>
                </c:pt>
                <c:pt idx="1">
                  <c:v>2.36</c:v>
                </c:pt>
                <c:pt idx="2">
                  <c:v>2.35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0190-4149-90D9-558AD7E08A6F}"/>
            </c:ext>
          </c:extLst>
        </c:ser>
        <c:ser>
          <c:idx val="7"/>
          <c:order val="7"/>
          <c:tx>
            <c:v>hifreq_64_x_fu</c:v>
          </c:tx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xVal>
            <c:numRef>
              <c:f>Sheet1!$D$20:$D$22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Sheet1!$L$20:$L$22</c:f>
              <c:numCache>
                <c:formatCode>General</c:formatCode>
                <c:ptCount val="3"/>
                <c:pt idx="0">
                  <c:v>9.2899999999999991</c:v>
                </c:pt>
                <c:pt idx="1">
                  <c:v>13.8</c:v>
                </c:pt>
                <c:pt idx="2">
                  <c:v>12.73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0190-4149-90D9-558AD7E08A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85487960"/>
        <c:axId val="585485664"/>
      </c:scatterChart>
      <c:valAx>
        <c:axId val="585487960"/>
        <c:scaling>
          <c:orientation val="minMax"/>
          <c:max val="4.0999999999999996"/>
          <c:min val="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ways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85485664"/>
        <c:crosses val="autoZero"/>
        <c:crossBetween val="midCat"/>
        <c:majorUnit val="1"/>
        <c:minorUnit val="1"/>
      </c:valAx>
      <c:valAx>
        <c:axId val="585485664"/>
        <c:scaling>
          <c:orientation val="minMax"/>
          <c:max val="2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Прирост</a:t>
                </a:r>
                <a:r>
                  <a:rPr lang="en-US"/>
                  <a:t>,</a:t>
                </a:r>
                <a:r>
                  <a:rPr lang="en-US" baseline="0"/>
                  <a:t> </a:t>
                </a:r>
                <a:r>
                  <a:rPr lang="ru-RU" baseline="0"/>
                  <a:t>%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85487960"/>
        <c:crosses val="autoZero"/>
        <c:crossBetween val="midCat"/>
        <c:majorUnit val="3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Dhrystone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hiperf_32_1_fu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Sheet1!$D$20:$D$22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Sheet1!$M$20:$M$22</c:f>
              <c:numCache>
                <c:formatCode>General</c:formatCode>
                <c:ptCount val="3"/>
                <c:pt idx="0">
                  <c:v>0.65</c:v>
                </c:pt>
                <c:pt idx="1">
                  <c:v>0.1</c:v>
                </c:pt>
                <c:pt idx="2">
                  <c:v>0.1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F47-41A2-9AEE-728F1AE0E3FA}"/>
            </c:ext>
          </c:extLst>
        </c:ser>
        <c:ser>
          <c:idx val="1"/>
          <c:order val="1"/>
          <c:tx>
            <c:v>hiperf_32_x_fu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Sheet1!$D$20:$D$22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Sheet1!$N$20:$N$22</c:f>
              <c:numCache>
                <c:formatCode>General</c:formatCode>
                <c:ptCount val="3"/>
                <c:pt idx="0">
                  <c:v>9.8699999999999992</c:v>
                </c:pt>
                <c:pt idx="1">
                  <c:v>11.89</c:v>
                </c:pt>
                <c:pt idx="2">
                  <c:v>12.31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F47-41A2-9AEE-728F1AE0E3FA}"/>
            </c:ext>
          </c:extLst>
        </c:ser>
        <c:ser>
          <c:idx val="2"/>
          <c:order val="2"/>
          <c:tx>
            <c:v>hiperf_64_1_fu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Sheet1!$D$20:$D$22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Sheet1!$O$20:$O$22</c:f>
              <c:numCache>
                <c:formatCode>General</c:formatCode>
                <c:ptCount val="3"/>
                <c:pt idx="0">
                  <c:v>0.73</c:v>
                </c:pt>
                <c:pt idx="1">
                  <c:v>0.06</c:v>
                </c:pt>
                <c:pt idx="2">
                  <c:v>0.06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F47-41A2-9AEE-728F1AE0E3FA}"/>
            </c:ext>
          </c:extLst>
        </c:ser>
        <c:ser>
          <c:idx val="3"/>
          <c:order val="3"/>
          <c:tx>
            <c:v>hiperf_64_x_fu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Sheet1!$D$20:$D$22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Sheet1!$P$20:$P$22</c:f>
              <c:numCache>
                <c:formatCode>General</c:formatCode>
                <c:ptCount val="3"/>
                <c:pt idx="0">
                  <c:v>10.44</c:v>
                </c:pt>
                <c:pt idx="1">
                  <c:v>15.71</c:v>
                </c:pt>
                <c:pt idx="2">
                  <c:v>16.309999999999999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F47-41A2-9AEE-728F1AE0E3FA}"/>
            </c:ext>
          </c:extLst>
        </c:ser>
        <c:ser>
          <c:idx val="4"/>
          <c:order val="4"/>
          <c:tx>
            <c:v>hifreq_32_1_fu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Sheet1!$D$20:$D$22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Sheet1!$Q$20:$Q$22</c:f>
              <c:numCache>
                <c:formatCode>General</c:formatCode>
                <c:ptCount val="3"/>
                <c:pt idx="0">
                  <c:v>2.46</c:v>
                </c:pt>
                <c:pt idx="1">
                  <c:v>2.08</c:v>
                </c:pt>
                <c:pt idx="2">
                  <c:v>2.08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FF47-41A2-9AEE-728F1AE0E3FA}"/>
            </c:ext>
          </c:extLst>
        </c:ser>
        <c:ser>
          <c:idx val="5"/>
          <c:order val="5"/>
          <c:tx>
            <c:v>hifreq_32_x_fu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Sheet1!$D$20:$D$22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Sheet1!$R$20:$R$22</c:f>
              <c:numCache>
                <c:formatCode>General</c:formatCode>
                <c:ptCount val="3"/>
                <c:pt idx="0">
                  <c:v>8.4600000000000009</c:v>
                </c:pt>
                <c:pt idx="1">
                  <c:v>9.4499999999999993</c:v>
                </c:pt>
                <c:pt idx="2">
                  <c:v>9.73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FF47-41A2-9AEE-728F1AE0E3FA}"/>
            </c:ext>
          </c:extLst>
        </c:ser>
        <c:ser>
          <c:idx val="6"/>
          <c:order val="6"/>
          <c:tx>
            <c:v>hifreq_64_1_fu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Sheet1!$D$20:$D$22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Sheet1!$S$20:$S$22</c:f>
              <c:numCache>
                <c:formatCode>General</c:formatCode>
                <c:ptCount val="3"/>
                <c:pt idx="0">
                  <c:v>2.39</c:v>
                </c:pt>
                <c:pt idx="1">
                  <c:v>1.93</c:v>
                </c:pt>
                <c:pt idx="2">
                  <c:v>1.93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FF47-41A2-9AEE-728F1AE0E3FA}"/>
            </c:ext>
          </c:extLst>
        </c:ser>
        <c:ser>
          <c:idx val="7"/>
          <c:order val="7"/>
          <c:tx>
            <c:v>hifreq_64_x_fu</c:v>
          </c:tx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xVal>
            <c:numRef>
              <c:f>Sheet1!$D$20:$D$22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Sheet1!$T$20:$T$22</c:f>
              <c:numCache>
                <c:formatCode>General</c:formatCode>
                <c:ptCount val="3"/>
                <c:pt idx="0">
                  <c:v>8.66</c:v>
                </c:pt>
                <c:pt idx="1">
                  <c:v>11.34</c:v>
                </c:pt>
                <c:pt idx="2">
                  <c:v>11.75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FF47-41A2-9AEE-728F1AE0E3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85487960"/>
        <c:axId val="585485664"/>
      </c:scatterChart>
      <c:valAx>
        <c:axId val="585487960"/>
        <c:scaling>
          <c:orientation val="minMax"/>
          <c:max val="4.0999999999999996"/>
          <c:min val="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0" i="0" u="none" strike="noStrike" baseline="0">
                    <a:effectLst/>
                  </a:rPr>
                  <a:t>ways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85485664"/>
        <c:crosses val="autoZero"/>
        <c:crossBetween val="midCat"/>
        <c:majorUnit val="1"/>
        <c:minorUnit val="1"/>
      </c:valAx>
      <c:valAx>
        <c:axId val="585485664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Прирост,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85487960"/>
        <c:crosses val="autoZero"/>
        <c:crossBetween val="midCat"/>
        <c:majorUnit val="3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Coremark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hiperf_32_1_fu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Sheet1!$D$30:$D$32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Sheet1!$E$30:$E$32</c:f>
              <c:numCache>
                <c:formatCode>General</c:formatCode>
                <c:ptCount val="3"/>
                <c:pt idx="0">
                  <c:v>19.55</c:v>
                </c:pt>
                <c:pt idx="1">
                  <c:v>20.079999999999998</c:v>
                </c:pt>
                <c:pt idx="2">
                  <c:v>20.09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685-449F-8B97-1B5BF967CE48}"/>
            </c:ext>
          </c:extLst>
        </c:ser>
        <c:ser>
          <c:idx val="1"/>
          <c:order val="1"/>
          <c:tx>
            <c:v>hiperf_32_x_fu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Sheet1!$D$30:$D$32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Sheet1!$F$30:$F$32</c:f>
              <c:numCache>
                <c:formatCode>General</c:formatCode>
                <c:ptCount val="3"/>
                <c:pt idx="0">
                  <c:v>32.61</c:v>
                </c:pt>
                <c:pt idx="1">
                  <c:v>39.15</c:v>
                </c:pt>
                <c:pt idx="2">
                  <c:v>41.07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685-449F-8B97-1B5BF967CE48}"/>
            </c:ext>
          </c:extLst>
        </c:ser>
        <c:ser>
          <c:idx val="2"/>
          <c:order val="2"/>
          <c:tx>
            <c:v>hiperf_64_1_fu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Sheet1!$D$30:$D$32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Sheet1!$G$30:$G$32</c:f>
              <c:numCache>
                <c:formatCode>General</c:formatCode>
                <c:ptCount val="3"/>
                <c:pt idx="0">
                  <c:v>18.13</c:v>
                </c:pt>
                <c:pt idx="1">
                  <c:v>18.39</c:v>
                </c:pt>
                <c:pt idx="2">
                  <c:v>18.39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3685-449F-8B97-1B5BF967CE48}"/>
            </c:ext>
          </c:extLst>
        </c:ser>
        <c:ser>
          <c:idx val="3"/>
          <c:order val="3"/>
          <c:tx>
            <c:v>hiperf_64_x_fu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Sheet1!$D$30:$D$32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Sheet1!$H$30:$H$32</c:f>
              <c:numCache>
                <c:formatCode>General</c:formatCode>
                <c:ptCount val="3"/>
                <c:pt idx="0">
                  <c:v>31.44</c:v>
                </c:pt>
                <c:pt idx="1">
                  <c:v>37.479999999999997</c:v>
                </c:pt>
                <c:pt idx="2">
                  <c:v>38.39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685-449F-8B97-1B5BF967CE48}"/>
            </c:ext>
          </c:extLst>
        </c:ser>
        <c:ser>
          <c:idx val="4"/>
          <c:order val="4"/>
          <c:tx>
            <c:v>hifreq_32_1_fu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Sheet1!$D$30:$D$32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Sheet1!$I$30:$I$32</c:f>
              <c:numCache>
                <c:formatCode>General</c:formatCode>
                <c:ptCount val="3"/>
                <c:pt idx="0">
                  <c:v>11.83</c:v>
                </c:pt>
                <c:pt idx="1">
                  <c:v>12.14</c:v>
                </c:pt>
                <c:pt idx="2">
                  <c:v>12.14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3685-449F-8B97-1B5BF967CE48}"/>
            </c:ext>
          </c:extLst>
        </c:ser>
        <c:ser>
          <c:idx val="5"/>
          <c:order val="5"/>
          <c:tx>
            <c:v>hifreq_32_x_fu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Sheet1!$D$30:$D$32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Sheet1!$J$30:$J$32</c:f>
              <c:numCache>
                <c:formatCode>General</c:formatCode>
                <c:ptCount val="3"/>
                <c:pt idx="0">
                  <c:v>19.72</c:v>
                </c:pt>
                <c:pt idx="1">
                  <c:v>23.71</c:v>
                </c:pt>
                <c:pt idx="2">
                  <c:v>24.86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3685-449F-8B97-1B5BF967CE48}"/>
            </c:ext>
          </c:extLst>
        </c:ser>
        <c:ser>
          <c:idx val="6"/>
          <c:order val="6"/>
          <c:tx>
            <c:v>hifreq_64_1_fu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Sheet1!$D$30:$D$32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Sheet1!$K$30:$K$32</c:f>
              <c:numCache>
                <c:formatCode>General</c:formatCode>
                <c:ptCount val="3"/>
                <c:pt idx="0">
                  <c:v>10.38</c:v>
                </c:pt>
                <c:pt idx="1">
                  <c:v>10.52</c:v>
                </c:pt>
                <c:pt idx="2">
                  <c:v>10.52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3685-449F-8B97-1B5BF967CE48}"/>
            </c:ext>
          </c:extLst>
        </c:ser>
        <c:ser>
          <c:idx val="7"/>
          <c:order val="7"/>
          <c:tx>
            <c:v>hifreq_64_x_fu</c:v>
          </c:tx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xVal>
            <c:numRef>
              <c:f>Sheet1!$D$30:$D$32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Sheet1!$L$30:$L$32</c:f>
              <c:numCache>
                <c:formatCode>General</c:formatCode>
                <c:ptCount val="3"/>
                <c:pt idx="0">
                  <c:v>17.97</c:v>
                </c:pt>
                <c:pt idx="1">
                  <c:v>21.45</c:v>
                </c:pt>
                <c:pt idx="2">
                  <c:v>21.96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3685-449F-8B97-1B5BF967CE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85487960"/>
        <c:axId val="585485664"/>
      </c:scatterChart>
      <c:valAx>
        <c:axId val="585487960"/>
        <c:scaling>
          <c:orientation val="minMax"/>
          <c:max val="4.0999999999999996"/>
          <c:min val="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0" i="0" u="none" strike="noStrike" baseline="0">
                    <a:effectLst/>
                  </a:rPr>
                  <a:t>ways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85485664"/>
        <c:crosses val="autoZero"/>
        <c:crossBetween val="midCat"/>
        <c:majorUnit val="1"/>
        <c:minorUnit val="1"/>
      </c:valAx>
      <c:valAx>
        <c:axId val="585485664"/>
        <c:scaling>
          <c:orientation val="minMax"/>
          <c:max val="42"/>
          <c:min val="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Прирост,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85487960"/>
        <c:crosses val="autoZero"/>
        <c:crossBetween val="midCat"/>
        <c:majorUnit val="3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Dhrystone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hiperf_32_1_fu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Sheet1!$D$30:$D$32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Sheet1!$M$30:$M$32</c:f>
              <c:numCache>
                <c:formatCode>General</c:formatCode>
                <c:ptCount val="3"/>
                <c:pt idx="0">
                  <c:v>15.86</c:v>
                </c:pt>
                <c:pt idx="1">
                  <c:v>16.420000000000002</c:v>
                </c:pt>
                <c:pt idx="2">
                  <c:v>16.420000000000002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B57-492A-8DE7-2CBD7E61678F}"/>
            </c:ext>
          </c:extLst>
        </c:ser>
        <c:ser>
          <c:idx val="1"/>
          <c:order val="1"/>
          <c:tx>
            <c:v>hiperf_32_x_fu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Sheet1!$D$30:$D$32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Sheet1!$N$30:$N$32</c:f>
              <c:numCache>
                <c:formatCode>General</c:formatCode>
                <c:ptCount val="3"/>
                <c:pt idx="0">
                  <c:v>24.71</c:v>
                </c:pt>
                <c:pt idx="1">
                  <c:v>31.78</c:v>
                </c:pt>
                <c:pt idx="2">
                  <c:v>32.15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B57-492A-8DE7-2CBD7E61678F}"/>
            </c:ext>
          </c:extLst>
        </c:ser>
        <c:ser>
          <c:idx val="2"/>
          <c:order val="2"/>
          <c:tx>
            <c:v>hiperf_64_1_fu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Sheet1!$D$30:$D$32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Sheet1!$O$30:$O$32</c:f>
              <c:numCache>
                <c:formatCode>General</c:formatCode>
                <c:ptCount val="3"/>
                <c:pt idx="0">
                  <c:v>16.32</c:v>
                </c:pt>
                <c:pt idx="1">
                  <c:v>17.02</c:v>
                </c:pt>
                <c:pt idx="2">
                  <c:v>17.02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FB57-492A-8DE7-2CBD7E61678F}"/>
            </c:ext>
          </c:extLst>
        </c:ser>
        <c:ser>
          <c:idx val="3"/>
          <c:order val="3"/>
          <c:tx>
            <c:v>hiperf_64_x_fu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Sheet1!$D$30:$D$32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Sheet1!$P$30:$P$32</c:f>
              <c:numCache>
                <c:formatCode>General</c:formatCode>
                <c:ptCount val="3"/>
                <c:pt idx="0">
                  <c:v>26.13</c:v>
                </c:pt>
                <c:pt idx="1">
                  <c:v>33.200000000000003</c:v>
                </c:pt>
                <c:pt idx="2">
                  <c:v>33.33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FB57-492A-8DE7-2CBD7E61678F}"/>
            </c:ext>
          </c:extLst>
        </c:ser>
        <c:ser>
          <c:idx val="4"/>
          <c:order val="4"/>
          <c:tx>
            <c:v>hifreq_32_1_fu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Sheet1!$D$30:$D$32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Sheet1!$Q$30:$Q$32</c:f>
              <c:numCache>
                <c:formatCode>General</c:formatCode>
                <c:ptCount val="3"/>
                <c:pt idx="0">
                  <c:v>10.95</c:v>
                </c:pt>
                <c:pt idx="1">
                  <c:v>11.34</c:v>
                </c:pt>
                <c:pt idx="2">
                  <c:v>11.34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FB57-492A-8DE7-2CBD7E61678F}"/>
            </c:ext>
          </c:extLst>
        </c:ser>
        <c:ser>
          <c:idx val="5"/>
          <c:order val="5"/>
          <c:tx>
            <c:v>hifreq_32_x_fu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Sheet1!$D$30:$D$32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Sheet1!$R$30:$R$32</c:f>
              <c:numCache>
                <c:formatCode>General</c:formatCode>
                <c:ptCount val="3"/>
                <c:pt idx="0">
                  <c:v>17.059999999999999</c:v>
                </c:pt>
                <c:pt idx="1">
                  <c:v>21.94</c:v>
                </c:pt>
                <c:pt idx="2">
                  <c:v>22.2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FB57-492A-8DE7-2CBD7E61678F}"/>
            </c:ext>
          </c:extLst>
        </c:ser>
        <c:ser>
          <c:idx val="6"/>
          <c:order val="6"/>
          <c:tx>
            <c:v>hifreq_64_1_fu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Sheet1!$D$30:$D$32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Sheet1!$S$30:$S$32</c:f>
              <c:numCache>
                <c:formatCode>General</c:formatCode>
                <c:ptCount val="3"/>
                <c:pt idx="0">
                  <c:v>11.3</c:v>
                </c:pt>
                <c:pt idx="1">
                  <c:v>11.78</c:v>
                </c:pt>
                <c:pt idx="2">
                  <c:v>11.78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FB57-492A-8DE7-2CBD7E61678F}"/>
            </c:ext>
          </c:extLst>
        </c:ser>
        <c:ser>
          <c:idx val="7"/>
          <c:order val="7"/>
          <c:tx>
            <c:v>hifreq_64_x_fu</c:v>
          </c:tx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xVal>
            <c:numRef>
              <c:f>Sheet1!$D$30:$D$32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Sheet1!$T$30:$T$32</c:f>
              <c:numCache>
                <c:formatCode>General</c:formatCode>
                <c:ptCount val="3"/>
                <c:pt idx="0">
                  <c:v>18.09</c:v>
                </c:pt>
                <c:pt idx="1">
                  <c:v>22.97</c:v>
                </c:pt>
                <c:pt idx="2">
                  <c:v>23.06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FB57-492A-8DE7-2CBD7E6167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85487960"/>
        <c:axId val="585485664"/>
      </c:scatterChart>
      <c:valAx>
        <c:axId val="585487960"/>
        <c:scaling>
          <c:orientation val="minMax"/>
          <c:max val="4.0999999999999996"/>
          <c:min val="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0" i="0" u="none" strike="noStrike" baseline="0">
                    <a:effectLst/>
                  </a:rPr>
                  <a:t>ways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85485664"/>
        <c:crosses val="autoZero"/>
        <c:crossBetween val="midCat"/>
        <c:majorUnit val="1"/>
        <c:minorUnit val="1"/>
      </c:valAx>
      <c:valAx>
        <c:axId val="585485664"/>
        <c:scaling>
          <c:orientation val="minMax"/>
          <c:max val="35"/>
          <c:min val="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Прирост,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85487960"/>
        <c:crosses val="autoZero"/>
        <c:crossBetween val="midCat"/>
        <c:majorUnit val="3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Coremark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hiperf_32_1_fu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Sheet1!$D$40:$D$42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Sheet1!$E$40:$E$42</c:f>
              <c:numCache>
                <c:formatCode>General</c:formatCode>
                <c:ptCount val="3"/>
                <c:pt idx="0">
                  <c:v>23.35</c:v>
                </c:pt>
                <c:pt idx="1">
                  <c:v>23.51</c:v>
                </c:pt>
                <c:pt idx="2">
                  <c:v>23.52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78E-41A7-9737-5A6B55F2A275}"/>
            </c:ext>
          </c:extLst>
        </c:ser>
        <c:ser>
          <c:idx val="1"/>
          <c:order val="1"/>
          <c:tx>
            <c:v>hiperf_32_x_fu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Sheet1!$D$40:$D$42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Sheet1!$F$40:$F$42</c:f>
              <c:numCache>
                <c:formatCode>General</c:formatCode>
                <c:ptCount val="3"/>
                <c:pt idx="0">
                  <c:v>46.01</c:v>
                </c:pt>
                <c:pt idx="1">
                  <c:v>58.98</c:v>
                </c:pt>
                <c:pt idx="2">
                  <c:v>58.68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78E-41A7-9737-5A6B55F2A275}"/>
            </c:ext>
          </c:extLst>
        </c:ser>
        <c:ser>
          <c:idx val="2"/>
          <c:order val="2"/>
          <c:tx>
            <c:v>hiperf_64_1_fu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Sheet1!$D$40:$D$42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Sheet1!$G$40:$G$42</c:f>
              <c:numCache>
                <c:formatCode>General</c:formatCode>
                <c:ptCount val="3"/>
                <c:pt idx="0">
                  <c:v>22.11</c:v>
                </c:pt>
                <c:pt idx="1">
                  <c:v>22.67</c:v>
                </c:pt>
                <c:pt idx="2">
                  <c:v>22.67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178E-41A7-9737-5A6B55F2A275}"/>
            </c:ext>
          </c:extLst>
        </c:ser>
        <c:ser>
          <c:idx val="3"/>
          <c:order val="3"/>
          <c:tx>
            <c:v>hiperf_64_x_fu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Sheet1!$D$40:$D$42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Sheet1!$H$40:$H$42</c:f>
              <c:numCache>
                <c:formatCode>General</c:formatCode>
                <c:ptCount val="3"/>
                <c:pt idx="0">
                  <c:v>47.14</c:v>
                </c:pt>
                <c:pt idx="1">
                  <c:v>61.73</c:v>
                </c:pt>
                <c:pt idx="2">
                  <c:v>60.98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78E-41A7-9737-5A6B55F2A275}"/>
            </c:ext>
          </c:extLst>
        </c:ser>
        <c:ser>
          <c:idx val="4"/>
          <c:order val="4"/>
          <c:tx>
            <c:v>hifreq_32_1_fu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Sheet1!$D$40:$D$42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Sheet1!$I$40:$I$42</c:f>
              <c:numCache>
                <c:formatCode>General</c:formatCode>
                <c:ptCount val="3"/>
                <c:pt idx="0">
                  <c:v>13.09</c:v>
                </c:pt>
                <c:pt idx="1">
                  <c:v>14.3</c:v>
                </c:pt>
                <c:pt idx="2">
                  <c:v>14.3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178E-41A7-9737-5A6B55F2A275}"/>
            </c:ext>
          </c:extLst>
        </c:ser>
        <c:ser>
          <c:idx val="5"/>
          <c:order val="5"/>
          <c:tx>
            <c:v>hifreq_32_x_fu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Sheet1!$D$40:$D$42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Sheet1!$J$40:$J$42</c:f>
              <c:numCache>
                <c:formatCode>General</c:formatCode>
                <c:ptCount val="3"/>
                <c:pt idx="0">
                  <c:v>28.27</c:v>
                </c:pt>
                <c:pt idx="1">
                  <c:v>35.58</c:v>
                </c:pt>
                <c:pt idx="2">
                  <c:v>35.340000000000003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178E-41A7-9737-5A6B55F2A275}"/>
            </c:ext>
          </c:extLst>
        </c:ser>
        <c:ser>
          <c:idx val="6"/>
          <c:order val="6"/>
          <c:tx>
            <c:v>hifreq_64_1_fu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Sheet1!$D$40:$D$42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Sheet1!$K$40:$K$42</c:f>
              <c:numCache>
                <c:formatCode>General</c:formatCode>
                <c:ptCount val="3"/>
                <c:pt idx="0">
                  <c:v>12.63</c:v>
                </c:pt>
                <c:pt idx="1">
                  <c:v>12.88</c:v>
                </c:pt>
                <c:pt idx="2">
                  <c:v>12.87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178E-41A7-9737-5A6B55F2A275}"/>
            </c:ext>
          </c:extLst>
        </c:ser>
        <c:ser>
          <c:idx val="7"/>
          <c:order val="7"/>
          <c:tx>
            <c:v>hifreq_64_x_fu</c:v>
          </c:tx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xVal>
            <c:numRef>
              <c:f>Sheet1!$D$40:$D$42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Sheet1!$L$40:$L$42</c:f>
              <c:numCache>
                <c:formatCode>General</c:formatCode>
                <c:ptCount val="3"/>
                <c:pt idx="0">
                  <c:v>27.26</c:v>
                </c:pt>
                <c:pt idx="1">
                  <c:v>35.25</c:v>
                </c:pt>
                <c:pt idx="2">
                  <c:v>34.69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178E-41A7-9737-5A6B55F2A2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85487960"/>
        <c:axId val="585485664"/>
      </c:scatterChart>
      <c:valAx>
        <c:axId val="585487960"/>
        <c:scaling>
          <c:orientation val="minMax"/>
          <c:max val="4.0999999999999996"/>
          <c:min val="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ways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85485664"/>
        <c:crosses val="autoZero"/>
        <c:crossBetween val="midCat"/>
        <c:majorUnit val="1"/>
        <c:minorUnit val="1"/>
      </c:valAx>
      <c:valAx>
        <c:axId val="585485664"/>
        <c:scaling>
          <c:orientation val="minMax"/>
          <c:max val="64"/>
          <c:min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Прирост,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85487960"/>
        <c:crosses val="autoZero"/>
        <c:crossBetween val="midCat"/>
        <c:majorUnit val="3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Dhrystone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hiperf_32_1_fu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Sheet1!$D$40:$D$42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Sheet1!$M$40:$M$42</c:f>
              <c:numCache>
                <c:formatCode>General</c:formatCode>
                <c:ptCount val="3"/>
                <c:pt idx="0">
                  <c:v>16.510000000000002</c:v>
                </c:pt>
                <c:pt idx="1">
                  <c:v>16.52</c:v>
                </c:pt>
                <c:pt idx="2">
                  <c:v>16.52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EDF-4381-B565-65BC78A5B818}"/>
            </c:ext>
          </c:extLst>
        </c:ser>
        <c:ser>
          <c:idx val="1"/>
          <c:order val="1"/>
          <c:tx>
            <c:v>hiperf_32_x_fu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Sheet1!$D$40:$D$42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Sheet1!$N$40:$N$42</c:f>
              <c:numCache>
                <c:formatCode>General</c:formatCode>
                <c:ptCount val="3"/>
                <c:pt idx="0">
                  <c:v>34.58</c:v>
                </c:pt>
                <c:pt idx="1">
                  <c:v>43.67</c:v>
                </c:pt>
                <c:pt idx="2">
                  <c:v>44.46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EDF-4381-B565-65BC78A5B818}"/>
            </c:ext>
          </c:extLst>
        </c:ser>
        <c:ser>
          <c:idx val="2"/>
          <c:order val="2"/>
          <c:tx>
            <c:v>hiperf_64_1_fu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Sheet1!$D$40:$D$42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Sheet1!$O$40:$O$42</c:f>
              <c:numCache>
                <c:formatCode>General</c:formatCode>
                <c:ptCount val="3"/>
                <c:pt idx="0">
                  <c:v>17.05</c:v>
                </c:pt>
                <c:pt idx="1">
                  <c:v>17.079999999999998</c:v>
                </c:pt>
                <c:pt idx="2">
                  <c:v>17.079999999999998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EEDF-4381-B565-65BC78A5B818}"/>
            </c:ext>
          </c:extLst>
        </c:ser>
        <c:ser>
          <c:idx val="3"/>
          <c:order val="3"/>
          <c:tx>
            <c:v>hiperf_64_x_fu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Sheet1!$D$40:$D$42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Sheet1!$P$40:$P$42</c:f>
              <c:numCache>
                <c:formatCode>General</c:formatCode>
                <c:ptCount val="3"/>
                <c:pt idx="0">
                  <c:v>36.57</c:v>
                </c:pt>
                <c:pt idx="1">
                  <c:v>48.91</c:v>
                </c:pt>
                <c:pt idx="2">
                  <c:v>49.64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EDF-4381-B565-65BC78A5B818}"/>
            </c:ext>
          </c:extLst>
        </c:ser>
        <c:ser>
          <c:idx val="4"/>
          <c:order val="4"/>
          <c:tx>
            <c:v>hifreq_32_1_fu</c:v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Sheet1!$D$40:$D$42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Sheet1!$Q$40:$Q$42</c:f>
              <c:numCache>
                <c:formatCode>General</c:formatCode>
                <c:ptCount val="3"/>
                <c:pt idx="0">
                  <c:v>13.41</c:v>
                </c:pt>
                <c:pt idx="1">
                  <c:v>13.42</c:v>
                </c:pt>
                <c:pt idx="2">
                  <c:v>13.42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EEDF-4381-B565-65BC78A5B818}"/>
            </c:ext>
          </c:extLst>
        </c:ser>
        <c:ser>
          <c:idx val="5"/>
          <c:order val="5"/>
          <c:tx>
            <c:v>hifreq_32_x_fu</c:v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Sheet1!$D$40:$D$42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Sheet1!$R$40:$R$42</c:f>
              <c:numCache>
                <c:formatCode>General</c:formatCode>
                <c:ptCount val="3"/>
                <c:pt idx="0">
                  <c:v>25.52</c:v>
                </c:pt>
                <c:pt idx="1">
                  <c:v>31.38</c:v>
                </c:pt>
                <c:pt idx="2">
                  <c:v>31.93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EEDF-4381-B565-65BC78A5B818}"/>
            </c:ext>
          </c:extLst>
        </c:ser>
        <c:ser>
          <c:idx val="6"/>
          <c:order val="6"/>
          <c:tx>
            <c:v>hifreq_64_1_fu</c:v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Sheet1!$D$40:$D$42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Sheet1!$S$40:$S$42</c:f>
              <c:numCache>
                <c:formatCode>General</c:formatCode>
                <c:ptCount val="3"/>
                <c:pt idx="0">
                  <c:v>13.69</c:v>
                </c:pt>
                <c:pt idx="1">
                  <c:v>13.71</c:v>
                </c:pt>
                <c:pt idx="2">
                  <c:v>13.71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EEDF-4381-B565-65BC78A5B818}"/>
            </c:ext>
          </c:extLst>
        </c:ser>
        <c:ser>
          <c:idx val="7"/>
          <c:order val="7"/>
          <c:tx>
            <c:v>hifreq_64_x_fu</c:v>
          </c:tx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xVal>
            <c:numRef>
              <c:f>Sheet1!$D$40:$D$42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xVal>
          <c:yVal>
            <c:numRef>
              <c:f>Sheet1!$T$40:$T$42</c:f>
              <c:numCache>
                <c:formatCode>General</c:formatCode>
                <c:ptCount val="3"/>
                <c:pt idx="0">
                  <c:v>26.74</c:v>
                </c:pt>
                <c:pt idx="1">
                  <c:v>34.31</c:v>
                </c:pt>
                <c:pt idx="2">
                  <c:v>34.81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EEDF-4381-B565-65BC78A5B8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85487960"/>
        <c:axId val="585485664"/>
      </c:scatterChart>
      <c:valAx>
        <c:axId val="585487960"/>
        <c:scaling>
          <c:orientation val="minMax"/>
          <c:max val="4.0999999999999996"/>
          <c:min val="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ways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85485664"/>
        <c:crosses val="autoZero"/>
        <c:crossBetween val="midCat"/>
        <c:majorUnit val="1"/>
        <c:minorUnit val="1"/>
      </c:valAx>
      <c:valAx>
        <c:axId val="585485664"/>
        <c:scaling>
          <c:orientation val="minMax"/>
          <c:max val="52"/>
          <c:min val="1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Прирост,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85487960"/>
        <c:crosses val="autoZero"/>
        <c:crossBetween val="midCat"/>
        <c:majorUnit val="3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0B535-F450-421E-860C-0E8494FD786B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4D57E-48A2-4250-B180-C5898DAC2D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23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547953-DF01-41A8-BD37-6FD5499D4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5836B2-3212-44DF-BFAA-00C50A2C2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61CB45-1082-4C11-8755-D3B479320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6F7A-4867-467C-B3C6-91AF9B12703F}" type="datetime1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405B09-B449-45A6-B2DB-E27ACBFB7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A68F6D-0450-49C8-873E-577D1C3F2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061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05E8A8-EDEA-4EE1-B744-B899EB405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8035F0-A868-4214-9DA8-449C0C3FB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2B7E60-8BBB-4B2C-BE70-87919D44A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F64C2-1F39-4991-A282-6AFD51B0149A}" type="datetime1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2D8A0F-E4A0-4FFC-86BA-C0C9D4C1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D62265-CC4B-4216-9978-93A60412F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000"/>
            </a:lvl1pPr>
          </a:lstStyle>
          <a:p>
            <a:fld id="{CA00A870-2C47-4DC2-B91B-F03EF2258C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2121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5683A2-18DB-4D0B-9B0F-0F6622D18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7BD745-77E4-453B-BEFB-1394530AC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40E47E-710D-4F49-A6FB-861385B83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59DE6-D3E7-483E-A5B4-A83C225A47A1}" type="datetime1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109106-FC17-43E9-BA01-7F47003F5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ACF5D6-EC63-4C21-AB5D-66D84FC3A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000"/>
            </a:lvl1pPr>
          </a:lstStyle>
          <a:p>
            <a:fld id="{CA00A870-2C47-4DC2-B91B-F03EF2258C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2774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CFBE15-D0A0-474B-8306-631DE3513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82CAD7-C24A-4256-8629-EAA976ADE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43A9C0D-6CFC-4A87-BF14-BC78CE1E6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4BCCF2-C1F7-43C2-8415-2790FA33D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69FF-4F21-4F40-ABDA-D390064A648A}" type="datetime1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BA432C1-9039-4206-83A4-D23E04186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9C90F7-8238-476D-A693-9F5BA176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000"/>
            </a:lvl1pPr>
          </a:lstStyle>
          <a:p>
            <a:fld id="{CA00A870-2C47-4DC2-B91B-F03EF2258C68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3655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6F9C3-DC75-496B-94CE-FC291811E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3ECEF8-9EA4-41EB-8FA9-4DA328EA8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E07F57-0126-4972-A26F-63F759313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5A0D392-2AD6-4040-AB91-529397FDDF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D29156E-C6A5-461B-85ED-1B27EBD72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8FA5B17-4DAA-4FC8-935D-77EA4077F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51329-CAE5-4879-9FF1-B577D1F10490}" type="datetime1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DACA7FF-83A5-4BFD-B267-14CB679B4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E02402E-C6F8-4454-910F-1ECE41F79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33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6C6C1C-302E-41AE-85F0-55A2F821F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E1F3A6F-1523-4504-B61A-DDEF0B2E2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9037-C0DB-4C45-A63F-07786D9EE8E5}" type="datetime1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746FA2E-697D-41D2-B400-5239AB8A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90457A9-C71C-4601-8C36-523C0FA24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63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446C17-EF18-42E5-9222-2794EF976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DB425-2B95-4489-A616-622E45FE8B2E}" type="datetime1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3CB5FB9-CE9C-4692-BBDB-564D54822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F332CA-7901-43F9-A5A5-5EF18BB11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47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BC766B-5A82-4350-A47F-CC8C33B65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B7BE5A-A299-45D7-8D4C-8F7E49A4E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116A68-8E8A-488F-802C-CEC1AB33A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41070F-5ECB-4CA4-AE21-F8935C1DB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3D8CD-DB2E-4861-A6C7-C5A401739878}" type="datetime1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7BA802-124B-4414-9DF4-196506906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063BCF-F0C7-47C9-AFBB-1F8C7472A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644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E898A5-411C-4DFF-BE62-04AF8C88C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D97A81E-299A-4241-B688-F748547E80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7AEB21-ED9E-43CB-ADB5-D71992896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11D0E5-EE46-4971-9DEA-70F46165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B62C-695D-4F54-9544-4A2FFCC613BF}" type="datetime1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EB7291-62DB-4DAC-B452-88A353FC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62DE23-6721-460E-A6D9-FE541D496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791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1B21F9-F411-4C36-B583-60BE31D97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0FC587-BCDE-4AAA-ABF5-654FE7755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85F1FA-2582-490B-BC51-4C203139C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160AD-B698-4850-AC98-94F43E7086AF}" type="datetime1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A1A6E7-2A7A-40FB-8FBD-9DE6B0910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F31745-386A-4F39-9EC7-C13CA5407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0277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F68444-D686-4EDC-889C-2AEA3B33E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AF934F-BEEA-4AE2-A9FC-1E340DDF2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CCB503-1EEF-44B4-B0C2-4F0F60F4D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50BF8-7D48-438B-A6EF-31AA4BFEC5A4}" type="datetime1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F19B9A-E43A-4323-A21F-479BD8374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2B0579-82DB-4821-AF9F-B943EDDDF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17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D2979D-E6DE-4C11-B90F-227831C1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5DF6BB-ABAD-466D-B589-9D8CD6291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C76A46-2A58-4927-9BF6-5894C831F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D1A7B-30CF-4234-B6C4-175EFA50A783}" type="datetime1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CAD9C6-C289-4FB2-A668-C488C1933B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6DAF8F-C6EF-4C74-8AD6-09AFADD5E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0A870-2C47-4DC2-B91B-F03EF2258C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202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C004B-B825-4AF5-B642-399C60D5DC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Результаты замеров прироста производительности при реализации </a:t>
            </a:r>
            <a:r>
              <a:rPr lang="ru-RU" dirty="0" err="1"/>
              <a:t>суперскалярности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2090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B75C30-B797-4854-9704-F40970880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расчёта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281EA-AB5A-46D5-B91C-17226F45C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Расчёт </a:t>
            </a:r>
            <a:r>
              <a:rPr lang="en-US" dirty="0"/>
              <a:t>hazard’</a:t>
            </a:r>
            <a:r>
              <a:rPr lang="ru-RU" dirty="0" err="1"/>
              <a:t>ов</a:t>
            </a:r>
            <a:r>
              <a:rPr lang="ru-RU" dirty="0"/>
              <a:t> между инструкциями в </a:t>
            </a:r>
            <a:r>
              <a:rPr lang="en-US" dirty="0"/>
              <a:t>RTL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Передача данных о </a:t>
            </a:r>
            <a:r>
              <a:rPr lang="en-US" dirty="0"/>
              <a:t>hazard’</a:t>
            </a:r>
            <a:r>
              <a:rPr lang="ru-RU" dirty="0"/>
              <a:t>ах и используемых функциональных юнитах в </a:t>
            </a:r>
            <a:r>
              <a:rPr lang="en-US" dirty="0" err="1"/>
              <a:t>tracelog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Проверка на неправильные предсказания ветвлений в </a:t>
            </a:r>
            <a:r>
              <a:rPr lang="en-US" dirty="0" err="1"/>
              <a:t>tracelog</a:t>
            </a:r>
            <a:r>
              <a:rPr lang="en-US" dirty="0"/>
              <a:t>’</a:t>
            </a:r>
            <a:r>
              <a:rPr lang="ru-RU" dirty="0"/>
              <a:t>е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Вывод данных о </a:t>
            </a:r>
            <a:r>
              <a:rPr lang="en-US" dirty="0"/>
              <a:t>hazard’</a:t>
            </a:r>
            <a:r>
              <a:rPr lang="ru-RU" dirty="0"/>
              <a:t>ах вместе с остальными данными </a:t>
            </a:r>
            <a:r>
              <a:rPr lang="en-US" dirty="0" err="1"/>
              <a:t>tracelog</a:t>
            </a:r>
            <a:r>
              <a:rPr lang="en-US" dirty="0"/>
              <a:t>’</a:t>
            </a:r>
            <a:r>
              <a:rPr lang="ru-RU" dirty="0"/>
              <a:t>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Расчёт возможного повышения производительности на основе вывода в текстовом файле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FEB1E1-C6C2-4484-A293-25BE69C1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6843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1619C4-BD57-40D9-A8F9-3B1E8FA3D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507"/>
            <a:ext cx="10515600" cy="1325563"/>
          </a:xfrm>
        </p:spPr>
        <p:txBody>
          <a:bodyPr/>
          <a:lstStyle/>
          <a:p>
            <a:r>
              <a:rPr lang="ru-RU" dirty="0"/>
              <a:t>Модификация </a:t>
            </a:r>
            <a:r>
              <a:rPr lang="ru-RU" dirty="0" err="1"/>
              <a:t>трейслога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CB14BCB-CF78-4FBE-964D-351C66B5E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2" y="1200002"/>
            <a:ext cx="8820150" cy="54006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325CB5-5EB6-4A28-94FE-685FCE1481C4}"/>
              </a:ext>
            </a:extLst>
          </p:cNvPr>
          <p:cNvSpPr txBox="1"/>
          <p:nvPr/>
        </p:nvSpPr>
        <p:spPr>
          <a:xfrm>
            <a:off x="8894092" y="1200002"/>
            <a:ext cx="308065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FU_REQ – </a:t>
            </a:r>
            <a:r>
              <a:rPr lang="ru-RU" dirty="0"/>
              <a:t>используемый функциональный юнит</a:t>
            </a:r>
          </a:p>
          <a:p>
            <a:r>
              <a:rPr lang="en-US" dirty="0"/>
              <a:t>1 – </a:t>
            </a:r>
            <a:r>
              <a:rPr lang="en-US" dirty="0" err="1"/>
              <a:t>cfu</a:t>
            </a:r>
            <a:endParaRPr lang="en-US" dirty="0"/>
          </a:p>
          <a:p>
            <a:r>
              <a:rPr lang="en-US" dirty="0"/>
              <a:t>2 – </a:t>
            </a:r>
            <a:r>
              <a:rPr lang="en-US" dirty="0" err="1"/>
              <a:t>alu</a:t>
            </a:r>
            <a:endParaRPr lang="en-US" dirty="0"/>
          </a:p>
          <a:p>
            <a:r>
              <a:rPr lang="en-US" dirty="0"/>
              <a:t>3 – </a:t>
            </a:r>
            <a:r>
              <a:rPr lang="en-US" dirty="0" err="1"/>
              <a:t>lsu</a:t>
            </a:r>
            <a:endParaRPr lang="en-US" dirty="0"/>
          </a:p>
          <a:p>
            <a:endParaRPr lang="ru-RU" dirty="0"/>
          </a:p>
          <a:p>
            <a:r>
              <a:rPr lang="en-US" dirty="0"/>
              <a:t>TAG – </a:t>
            </a:r>
            <a:r>
              <a:rPr lang="ru-RU" dirty="0"/>
              <a:t>выставляется при наличии возможности одновременной выдачи с предыдущей инструкцией</a:t>
            </a:r>
          </a:p>
          <a:p>
            <a:endParaRPr lang="ru-RU" dirty="0"/>
          </a:p>
          <a:p>
            <a:r>
              <a:rPr lang="en-US" dirty="0"/>
              <a:t>CNT – </a:t>
            </a:r>
            <a:r>
              <a:rPr lang="ru-RU" dirty="0"/>
              <a:t>счётчик, обозначающий количество инструкций, которые могут быть выданы одновременно с данной инструкцией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7840DE78-697F-4094-B989-D2BBB156D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746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B75C30-B797-4854-9704-F40970880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получения тегов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281EA-AB5A-46D5-B91C-17226F45C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sz="2400" dirty="0"/>
              <a:t>Расчёт зависимостей данных и </a:t>
            </a:r>
            <a:r>
              <a:rPr lang="en-US" sz="2400" dirty="0"/>
              <a:t>structural hazards</a:t>
            </a:r>
            <a:endParaRPr lang="ru-RU" sz="2400" dirty="0"/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Определение количества инструкций, которые могут быть выданы одновременно с текущей инструкцией </a:t>
            </a:r>
            <a:r>
              <a:rPr lang="en-US" sz="2400" dirty="0"/>
              <a:t>X</a:t>
            </a:r>
            <a:r>
              <a:rPr lang="ru-RU" sz="2400" dirty="0"/>
              <a:t>, и сохранение их </a:t>
            </a:r>
            <a:r>
              <a:rPr lang="en-US" sz="2400" dirty="0"/>
              <a:t>PC </a:t>
            </a:r>
            <a:endParaRPr lang="ru-RU" sz="2400" dirty="0"/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Передача значения счетчика дополнительных инструкций и сохранённых </a:t>
            </a:r>
            <a:r>
              <a:rPr lang="en-US" sz="2400" dirty="0"/>
              <a:t>PC</a:t>
            </a:r>
            <a:r>
              <a:rPr lang="ru-RU" sz="2400" dirty="0"/>
              <a:t> в </a:t>
            </a:r>
            <a:r>
              <a:rPr lang="en-US" sz="2400" dirty="0" err="1"/>
              <a:t>tracelog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После </a:t>
            </a:r>
            <a:r>
              <a:rPr lang="en-US" sz="2400" dirty="0"/>
              <a:t>retire </a:t>
            </a:r>
            <a:r>
              <a:rPr lang="ru-RU" sz="2400" dirty="0"/>
              <a:t>инструкции </a:t>
            </a:r>
            <a:r>
              <a:rPr lang="en-US" sz="2400" dirty="0"/>
              <a:t>X </a:t>
            </a:r>
            <a:r>
              <a:rPr lang="ru-RU" sz="2400" dirty="0"/>
              <a:t>сравнение </a:t>
            </a:r>
            <a:r>
              <a:rPr lang="en-US" sz="2400" dirty="0"/>
              <a:t>PC </a:t>
            </a:r>
            <a:r>
              <a:rPr lang="ru-RU" sz="2400" dirty="0"/>
              <a:t>следующих инструкций и, в случае совпадения, декрементирование счётчика и выставление тега</a:t>
            </a:r>
          </a:p>
          <a:p>
            <a:pPr marL="0" indent="0">
              <a:buNone/>
            </a:pPr>
            <a:r>
              <a:rPr lang="ru-RU" sz="2400" dirty="0"/>
              <a:t>В случае несовпадения </a:t>
            </a:r>
            <a:r>
              <a:rPr lang="en-US" sz="2400" dirty="0"/>
              <a:t>PC</a:t>
            </a:r>
            <a:r>
              <a:rPr lang="ru-RU" sz="2400" dirty="0"/>
              <a:t> начинается повторение действий из пункта 4 для инструкции, </a:t>
            </a:r>
            <a:r>
              <a:rPr lang="en-US" sz="2400" dirty="0"/>
              <a:t>PC </a:t>
            </a:r>
            <a:r>
              <a:rPr lang="ru-RU" sz="2400" dirty="0"/>
              <a:t>которой не совпал с ожидаемым.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FEB1E1-C6C2-4484-A293-25BE69C1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531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BF4C9-1966-47D1-ACBD-5396AF40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Полученные сценарии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8501F9-D557-4A0B-A803-1510116AC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581"/>
            <a:ext cx="10515600" cy="470638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dirty="0"/>
              <a:t>Пессимистичный</a:t>
            </a:r>
          </a:p>
          <a:p>
            <a:pPr marL="0" indent="0">
              <a:buNone/>
            </a:pPr>
            <a:r>
              <a:rPr lang="ru-RU" dirty="0"/>
              <a:t>Прирост за счёт одновременного </a:t>
            </a:r>
            <a:r>
              <a:rPr lang="en-US" dirty="0"/>
              <a:t>retire</a:t>
            </a:r>
            <a:r>
              <a:rPr lang="ru-RU" dirty="0"/>
              <a:t> инструкций, выданных вместе</a:t>
            </a:r>
          </a:p>
          <a:p>
            <a:pPr>
              <a:lnSpc>
                <a:spcPct val="150000"/>
              </a:lnSpc>
            </a:pPr>
            <a:r>
              <a:rPr lang="ru-RU" dirty="0"/>
              <a:t>Умеренно оптимистичный</a:t>
            </a:r>
          </a:p>
          <a:p>
            <a:pPr marL="0" indent="0">
              <a:buNone/>
            </a:pPr>
            <a:r>
              <a:rPr lang="ru-RU" dirty="0"/>
              <a:t>Прирост за счёт одновременной выдачи нескольких инструкций</a:t>
            </a:r>
          </a:p>
          <a:p>
            <a:pPr>
              <a:lnSpc>
                <a:spcPct val="150000"/>
              </a:lnSpc>
            </a:pPr>
            <a:r>
              <a:rPr lang="ru-RU" dirty="0"/>
              <a:t>Оптимистичный</a:t>
            </a:r>
          </a:p>
          <a:p>
            <a:pPr marL="0" indent="0">
              <a:buNone/>
            </a:pPr>
            <a:r>
              <a:rPr lang="ru-RU" dirty="0"/>
              <a:t>Сумма предыдущих двух сценариев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80D94F-6AD0-4039-A43F-C288F896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667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BF4C9-1966-47D1-ACBD-5396AF40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Неточности пессимистичного сценария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8501F9-D557-4A0B-A803-1510116AC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Учитывается одновременный </a:t>
            </a:r>
            <a:r>
              <a:rPr lang="en-US" dirty="0"/>
              <a:t>retire </a:t>
            </a:r>
            <a:r>
              <a:rPr lang="ru-RU" dirty="0"/>
              <a:t>только тех инструкций, которые могут быть переданы на стадию выполнения одновременно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6480B98-CEA4-45DC-A487-B8074F00C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30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BF4C9-1966-47D1-ACBD-5396AF40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800" dirty="0"/>
              <a:t>Неточности умеренно оптимистичного сценария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8501F9-D557-4A0B-A803-1510116AC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569"/>
            <a:ext cx="10515600" cy="4640394"/>
          </a:xfrm>
        </p:spPr>
        <p:txBody>
          <a:bodyPr>
            <a:normAutofit/>
          </a:bodyPr>
          <a:lstStyle/>
          <a:p>
            <a:r>
              <a:rPr lang="ru-RU" sz="2400" dirty="0"/>
              <a:t>Отсутствие учёта дополнительной нагрузки на </a:t>
            </a:r>
            <a:r>
              <a:rPr lang="en-US" sz="2400" dirty="0"/>
              <a:t>IFU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При </a:t>
            </a:r>
            <a:r>
              <a:rPr lang="ru-RU" sz="2400" dirty="0" err="1"/>
              <a:t>суперскалярном</a:t>
            </a:r>
            <a:r>
              <a:rPr lang="ru-RU" sz="2400" dirty="0"/>
              <a:t> исполнении вырастет нагрузка на </a:t>
            </a:r>
            <a:r>
              <a:rPr lang="en-US" sz="2400" dirty="0"/>
              <a:t>IFU</a:t>
            </a:r>
            <a:r>
              <a:rPr lang="ru-RU" sz="2400" dirty="0"/>
              <a:t>, поскольку его очередь будет опустошаться интенсивнее. Из-за этого могут возникать ситуации, когда </a:t>
            </a:r>
            <a:r>
              <a:rPr lang="en-US" sz="2400" dirty="0"/>
              <a:t>IDU </a:t>
            </a:r>
            <a:r>
              <a:rPr lang="ru-RU" sz="2400" dirty="0"/>
              <a:t>будет подолгу ожидать поступления</a:t>
            </a:r>
            <a:r>
              <a:rPr lang="en-US" sz="2400" dirty="0"/>
              <a:t> </a:t>
            </a:r>
            <a:r>
              <a:rPr lang="ru-RU" sz="2400" dirty="0"/>
              <a:t>новых инструкций</a:t>
            </a:r>
          </a:p>
          <a:p>
            <a:r>
              <a:rPr lang="ru-RU" sz="2400" dirty="0"/>
              <a:t>Неограниченное количество записей в </a:t>
            </a:r>
            <a:r>
              <a:rPr lang="en-US" sz="2400" dirty="0"/>
              <a:t>ROB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Не учитывается возможное переполнение </a:t>
            </a:r>
            <a:r>
              <a:rPr lang="en-US" sz="2400" dirty="0"/>
              <a:t>ROB’</a:t>
            </a:r>
            <a:r>
              <a:rPr lang="ru-RU" sz="2400" dirty="0"/>
              <a:t>а при более интенсивной выдаче инструкций на стадию выполнения</a:t>
            </a:r>
            <a:endParaRPr lang="en-US" sz="2400" dirty="0"/>
          </a:p>
          <a:p>
            <a:r>
              <a:rPr lang="ru-RU" sz="2400" dirty="0"/>
              <a:t>Увеличение нагрузки на память</a:t>
            </a:r>
          </a:p>
          <a:p>
            <a:pPr marL="0" indent="0">
              <a:buNone/>
            </a:pPr>
            <a:r>
              <a:rPr lang="ru-RU" sz="2400" dirty="0"/>
              <a:t>Также вырастет нагрузка на </a:t>
            </a:r>
            <a:r>
              <a:rPr lang="en-US" sz="2400" dirty="0"/>
              <a:t>LSU </a:t>
            </a:r>
            <a:r>
              <a:rPr lang="ru-RU" sz="2400" dirty="0"/>
              <a:t>и подсистему памяти в целом, что может привести к дополнительным задержкам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D57019-8927-410E-B155-3E0634713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3488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704FA7-C713-4915-9AF9-AA34E263F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96" y="2766218"/>
            <a:ext cx="11887986" cy="1325563"/>
          </a:xfrm>
        </p:spPr>
        <p:txBody>
          <a:bodyPr>
            <a:noAutofit/>
          </a:bodyPr>
          <a:lstStyle/>
          <a:p>
            <a:pPr algn="ctr"/>
            <a:r>
              <a:rPr lang="ru-RU" sz="5000" dirty="0"/>
              <a:t>Ожидаемый рост производительности в процентах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1763FB9-DA79-41ED-BBEA-1455DD7F6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845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BF4C9-1966-47D1-ACBD-5396AF40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Пессимистичный сценарий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90F2443-3F9D-4181-88DE-278B52E7C669}"/>
              </a:ext>
            </a:extLst>
          </p:cNvPr>
          <p:cNvGraphicFramePr>
            <a:graphicFrameLocks noGrp="1"/>
          </p:cNvGraphicFramePr>
          <p:nvPr/>
        </p:nvGraphicFramePr>
        <p:xfrm>
          <a:off x="207390" y="1970202"/>
          <a:ext cx="11541545" cy="3252808"/>
        </p:xfrm>
        <a:graphic>
          <a:graphicData uri="http://schemas.openxmlformats.org/drawingml/2006/table">
            <a:tbl>
              <a:tblPr/>
              <a:tblGrid>
                <a:gridCol w="836345">
                  <a:extLst>
                    <a:ext uri="{9D8B030D-6E8A-4147-A177-3AD203B41FA5}">
                      <a16:colId xmlns:a16="http://schemas.microsoft.com/office/drawing/2014/main" val="1513577796"/>
                    </a:ext>
                  </a:extLst>
                </a:gridCol>
                <a:gridCol w="669075">
                  <a:extLst>
                    <a:ext uri="{9D8B030D-6E8A-4147-A177-3AD203B41FA5}">
                      <a16:colId xmlns:a16="http://schemas.microsoft.com/office/drawing/2014/main" val="1193013737"/>
                    </a:ext>
                  </a:extLst>
                </a:gridCol>
                <a:gridCol w="669075">
                  <a:extLst>
                    <a:ext uri="{9D8B030D-6E8A-4147-A177-3AD203B41FA5}">
                      <a16:colId xmlns:a16="http://schemas.microsoft.com/office/drawing/2014/main" val="3231038275"/>
                    </a:ext>
                  </a:extLst>
                </a:gridCol>
                <a:gridCol w="669075">
                  <a:extLst>
                    <a:ext uri="{9D8B030D-6E8A-4147-A177-3AD203B41FA5}">
                      <a16:colId xmlns:a16="http://schemas.microsoft.com/office/drawing/2014/main" val="1136709816"/>
                    </a:ext>
                  </a:extLst>
                </a:gridCol>
                <a:gridCol w="669075">
                  <a:extLst>
                    <a:ext uri="{9D8B030D-6E8A-4147-A177-3AD203B41FA5}">
                      <a16:colId xmlns:a16="http://schemas.microsoft.com/office/drawing/2014/main" val="1811348915"/>
                    </a:ext>
                  </a:extLst>
                </a:gridCol>
                <a:gridCol w="669075">
                  <a:extLst>
                    <a:ext uri="{9D8B030D-6E8A-4147-A177-3AD203B41FA5}">
                      <a16:colId xmlns:a16="http://schemas.microsoft.com/office/drawing/2014/main" val="463269721"/>
                    </a:ext>
                  </a:extLst>
                </a:gridCol>
                <a:gridCol w="669075">
                  <a:extLst>
                    <a:ext uri="{9D8B030D-6E8A-4147-A177-3AD203B41FA5}">
                      <a16:colId xmlns:a16="http://schemas.microsoft.com/office/drawing/2014/main" val="363063508"/>
                    </a:ext>
                  </a:extLst>
                </a:gridCol>
                <a:gridCol w="669075">
                  <a:extLst>
                    <a:ext uri="{9D8B030D-6E8A-4147-A177-3AD203B41FA5}">
                      <a16:colId xmlns:a16="http://schemas.microsoft.com/office/drawing/2014/main" val="2072031391"/>
                    </a:ext>
                  </a:extLst>
                </a:gridCol>
                <a:gridCol w="669075">
                  <a:extLst>
                    <a:ext uri="{9D8B030D-6E8A-4147-A177-3AD203B41FA5}">
                      <a16:colId xmlns:a16="http://schemas.microsoft.com/office/drawing/2014/main" val="4218021550"/>
                    </a:ext>
                  </a:extLst>
                </a:gridCol>
                <a:gridCol w="669075">
                  <a:extLst>
                    <a:ext uri="{9D8B030D-6E8A-4147-A177-3AD203B41FA5}">
                      <a16:colId xmlns:a16="http://schemas.microsoft.com/office/drawing/2014/main" val="3833990095"/>
                    </a:ext>
                  </a:extLst>
                </a:gridCol>
                <a:gridCol w="669075">
                  <a:extLst>
                    <a:ext uri="{9D8B030D-6E8A-4147-A177-3AD203B41FA5}">
                      <a16:colId xmlns:a16="http://schemas.microsoft.com/office/drawing/2014/main" val="3479572439"/>
                    </a:ext>
                  </a:extLst>
                </a:gridCol>
                <a:gridCol w="669075">
                  <a:extLst>
                    <a:ext uri="{9D8B030D-6E8A-4147-A177-3AD203B41FA5}">
                      <a16:colId xmlns:a16="http://schemas.microsoft.com/office/drawing/2014/main" val="1232457530"/>
                    </a:ext>
                  </a:extLst>
                </a:gridCol>
                <a:gridCol w="669075">
                  <a:extLst>
                    <a:ext uri="{9D8B030D-6E8A-4147-A177-3AD203B41FA5}">
                      <a16:colId xmlns:a16="http://schemas.microsoft.com/office/drawing/2014/main" val="3013754158"/>
                    </a:ext>
                  </a:extLst>
                </a:gridCol>
                <a:gridCol w="669075">
                  <a:extLst>
                    <a:ext uri="{9D8B030D-6E8A-4147-A177-3AD203B41FA5}">
                      <a16:colId xmlns:a16="http://schemas.microsoft.com/office/drawing/2014/main" val="2858249796"/>
                    </a:ext>
                  </a:extLst>
                </a:gridCol>
                <a:gridCol w="669075">
                  <a:extLst>
                    <a:ext uri="{9D8B030D-6E8A-4147-A177-3AD203B41FA5}">
                      <a16:colId xmlns:a16="http://schemas.microsoft.com/office/drawing/2014/main" val="2413956714"/>
                    </a:ext>
                  </a:extLst>
                </a:gridCol>
                <a:gridCol w="669075">
                  <a:extLst>
                    <a:ext uri="{9D8B030D-6E8A-4147-A177-3AD203B41FA5}">
                      <a16:colId xmlns:a16="http://schemas.microsoft.com/office/drawing/2014/main" val="3340493224"/>
                    </a:ext>
                  </a:extLst>
                </a:gridCol>
                <a:gridCol w="669075">
                  <a:extLst>
                    <a:ext uri="{9D8B030D-6E8A-4147-A177-3AD203B41FA5}">
                      <a16:colId xmlns:a16="http://schemas.microsoft.com/office/drawing/2014/main" val="1517584988"/>
                    </a:ext>
                  </a:extLst>
                </a:gridCol>
              </a:tblGrid>
              <a:tr h="406601">
                <a:tc>
                  <a:txBody>
                    <a:bodyPr/>
                    <a:lstStyle/>
                    <a:p>
                      <a:pPr algn="ctr" fontAlgn="ctr"/>
                      <a:endParaRPr lang="ru-R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6"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Прирост за счёт одновременного </a:t>
                      </a:r>
                      <a:r>
                        <a:rPr lang="ru-RU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retire</a:t>
                      </a:r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в процентах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34766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 algn="ctr" fontAlgn="ctr"/>
                      <a:endParaRPr lang="ru-R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402169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 algn="ctr" fontAlgn="ctr"/>
                      <a:endParaRPr lang="ru-R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241848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 algn="ctr" fontAlgn="ctr"/>
                      <a:endParaRPr lang="ru-R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887017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5521193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3,98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15,69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8,54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9,29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9,87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10,44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2,46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8,46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8,66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07241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19,83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4,28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11,88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11,89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15,71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9,45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326691"/>
                  </a:ext>
                </a:extLst>
              </a:tr>
              <a:tr h="40660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17,61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4,28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12,73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12,31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16,31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9,73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676404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345FB94-AEC1-4CEE-9874-DCD50AEAE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9</a:t>
            </a:fld>
            <a:endParaRPr lang="ru-RU"/>
          </a:p>
        </p:txBody>
      </p:sp>
      <p:graphicFrame>
        <p:nvGraphicFramePr>
          <p:cNvPr id="10" name="Таблица 3">
            <a:extLst>
              <a:ext uri="{FF2B5EF4-FFF2-40B4-BE49-F238E27FC236}">
                <a16:creationId xmlns:a16="http://schemas.microsoft.com/office/drawing/2014/main" id="{7823BEF4-BE31-468E-89CC-DBCCEEB4E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626244"/>
              </p:ext>
            </p:extLst>
          </p:nvPr>
        </p:nvGraphicFramePr>
        <p:xfrm>
          <a:off x="6684130" y="5502524"/>
          <a:ext cx="513237" cy="399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237">
                  <a:extLst>
                    <a:ext uri="{9D8B030D-6E8A-4147-A177-3AD203B41FA5}">
                      <a16:colId xmlns:a16="http://schemas.microsoft.com/office/drawing/2014/main" val="185892296"/>
                    </a:ext>
                  </a:extLst>
                </a:gridCol>
              </a:tblGrid>
              <a:tr h="3994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24198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4923FF6-C125-4EBC-875D-0EE5E27575E6}"/>
              </a:ext>
            </a:extLst>
          </p:cNvPr>
          <p:cNvSpPr txBox="1"/>
          <p:nvPr/>
        </p:nvSpPr>
        <p:spPr>
          <a:xfrm>
            <a:off x="7197367" y="550858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– наибольший показатель среди </a:t>
            </a:r>
            <a:r>
              <a:rPr lang="en-US" dirty="0" err="1"/>
              <a:t>hiperf</a:t>
            </a:r>
            <a:r>
              <a:rPr lang="en-US" dirty="0"/>
              <a:t>/</a:t>
            </a:r>
            <a:r>
              <a:rPr lang="en-US" dirty="0" err="1"/>
              <a:t>hifreq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8102D7-2D35-4151-B92F-081A259A6D1C}"/>
              </a:ext>
            </a:extLst>
          </p:cNvPr>
          <p:cNvSpPr txBox="1"/>
          <p:nvPr/>
        </p:nvSpPr>
        <p:spPr>
          <a:xfrm>
            <a:off x="122549" y="5508580"/>
            <a:ext cx="6561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1_fu’s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–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прирост без дублирования функциональных юнитов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3DDA03-C96C-468C-B177-0D93312E5D8B}"/>
              </a:ext>
            </a:extLst>
          </p:cNvPr>
          <p:cNvSpPr txBox="1"/>
          <p:nvPr/>
        </p:nvSpPr>
        <p:spPr>
          <a:xfrm>
            <a:off x="122549" y="5937910"/>
            <a:ext cx="6938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x_fu’s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–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 количество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BALU/ALU/BMU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равно количеству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way’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ев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7765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BF4C9-1966-47D1-ACBD-5396AF40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Умеренно оптимистичный сценарий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DDCD3681-3BC2-435F-A7BF-1FDB05BF93D6}"/>
              </a:ext>
            </a:extLst>
          </p:cNvPr>
          <p:cNvGraphicFramePr>
            <a:graphicFrameLocks noGrp="1"/>
          </p:cNvGraphicFramePr>
          <p:nvPr/>
        </p:nvGraphicFramePr>
        <p:xfrm>
          <a:off x="75415" y="1944209"/>
          <a:ext cx="11858927" cy="3438496"/>
        </p:xfrm>
        <a:graphic>
          <a:graphicData uri="http://schemas.openxmlformats.org/drawingml/2006/table">
            <a:tbl>
              <a:tblPr/>
              <a:tblGrid>
                <a:gridCol w="859343">
                  <a:extLst>
                    <a:ext uri="{9D8B030D-6E8A-4147-A177-3AD203B41FA5}">
                      <a16:colId xmlns:a16="http://schemas.microsoft.com/office/drawing/2014/main" val="741221164"/>
                    </a:ext>
                  </a:extLst>
                </a:gridCol>
                <a:gridCol w="687474">
                  <a:extLst>
                    <a:ext uri="{9D8B030D-6E8A-4147-A177-3AD203B41FA5}">
                      <a16:colId xmlns:a16="http://schemas.microsoft.com/office/drawing/2014/main" val="2496072561"/>
                    </a:ext>
                  </a:extLst>
                </a:gridCol>
                <a:gridCol w="687474">
                  <a:extLst>
                    <a:ext uri="{9D8B030D-6E8A-4147-A177-3AD203B41FA5}">
                      <a16:colId xmlns:a16="http://schemas.microsoft.com/office/drawing/2014/main" val="3330366008"/>
                    </a:ext>
                  </a:extLst>
                </a:gridCol>
                <a:gridCol w="687474">
                  <a:extLst>
                    <a:ext uri="{9D8B030D-6E8A-4147-A177-3AD203B41FA5}">
                      <a16:colId xmlns:a16="http://schemas.microsoft.com/office/drawing/2014/main" val="1144453632"/>
                    </a:ext>
                  </a:extLst>
                </a:gridCol>
                <a:gridCol w="687474">
                  <a:extLst>
                    <a:ext uri="{9D8B030D-6E8A-4147-A177-3AD203B41FA5}">
                      <a16:colId xmlns:a16="http://schemas.microsoft.com/office/drawing/2014/main" val="3981494924"/>
                    </a:ext>
                  </a:extLst>
                </a:gridCol>
                <a:gridCol w="687474">
                  <a:extLst>
                    <a:ext uri="{9D8B030D-6E8A-4147-A177-3AD203B41FA5}">
                      <a16:colId xmlns:a16="http://schemas.microsoft.com/office/drawing/2014/main" val="2930974683"/>
                    </a:ext>
                  </a:extLst>
                </a:gridCol>
                <a:gridCol w="687474">
                  <a:extLst>
                    <a:ext uri="{9D8B030D-6E8A-4147-A177-3AD203B41FA5}">
                      <a16:colId xmlns:a16="http://schemas.microsoft.com/office/drawing/2014/main" val="950907835"/>
                    </a:ext>
                  </a:extLst>
                </a:gridCol>
                <a:gridCol w="687474">
                  <a:extLst>
                    <a:ext uri="{9D8B030D-6E8A-4147-A177-3AD203B41FA5}">
                      <a16:colId xmlns:a16="http://schemas.microsoft.com/office/drawing/2014/main" val="3949032100"/>
                    </a:ext>
                  </a:extLst>
                </a:gridCol>
                <a:gridCol w="687474">
                  <a:extLst>
                    <a:ext uri="{9D8B030D-6E8A-4147-A177-3AD203B41FA5}">
                      <a16:colId xmlns:a16="http://schemas.microsoft.com/office/drawing/2014/main" val="3316213339"/>
                    </a:ext>
                  </a:extLst>
                </a:gridCol>
                <a:gridCol w="687474">
                  <a:extLst>
                    <a:ext uri="{9D8B030D-6E8A-4147-A177-3AD203B41FA5}">
                      <a16:colId xmlns:a16="http://schemas.microsoft.com/office/drawing/2014/main" val="2319771132"/>
                    </a:ext>
                  </a:extLst>
                </a:gridCol>
                <a:gridCol w="687474">
                  <a:extLst>
                    <a:ext uri="{9D8B030D-6E8A-4147-A177-3AD203B41FA5}">
                      <a16:colId xmlns:a16="http://schemas.microsoft.com/office/drawing/2014/main" val="3324833343"/>
                    </a:ext>
                  </a:extLst>
                </a:gridCol>
                <a:gridCol w="687474">
                  <a:extLst>
                    <a:ext uri="{9D8B030D-6E8A-4147-A177-3AD203B41FA5}">
                      <a16:colId xmlns:a16="http://schemas.microsoft.com/office/drawing/2014/main" val="2954051876"/>
                    </a:ext>
                  </a:extLst>
                </a:gridCol>
                <a:gridCol w="687474">
                  <a:extLst>
                    <a:ext uri="{9D8B030D-6E8A-4147-A177-3AD203B41FA5}">
                      <a16:colId xmlns:a16="http://schemas.microsoft.com/office/drawing/2014/main" val="1063960239"/>
                    </a:ext>
                  </a:extLst>
                </a:gridCol>
                <a:gridCol w="687474">
                  <a:extLst>
                    <a:ext uri="{9D8B030D-6E8A-4147-A177-3AD203B41FA5}">
                      <a16:colId xmlns:a16="http://schemas.microsoft.com/office/drawing/2014/main" val="2448257057"/>
                    </a:ext>
                  </a:extLst>
                </a:gridCol>
                <a:gridCol w="687474">
                  <a:extLst>
                    <a:ext uri="{9D8B030D-6E8A-4147-A177-3AD203B41FA5}">
                      <a16:colId xmlns:a16="http://schemas.microsoft.com/office/drawing/2014/main" val="2096498157"/>
                    </a:ext>
                  </a:extLst>
                </a:gridCol>
                <a:gridCol w="687474">
                  <a:extLst>
                    <a:ext uri="{9D8B030D-6E8A-4147-A177-3AD203B41FA5}">
                      <a16:colId xmlns:a16="http://schemas.microsoft.com/office/drawing/2014/main" val="3630287253"/>
                    </a:ext>
                  </a:extLst>
                </a:gridCol>
                <a:gridCol w="687474">
                  <a:extLst>
                    <a:ext uri="{9D8B030D-6E8A-4147-A177-3AD203B41FA5}">
                      <a16:colId xmlns:a16="http://schemas.microsoft.com/office/drawing/2014/main" val="2027778145"/>
                    </a:ext>
                  </a:extLst>
                </a:gridCol>
              </a:tblGrid>
              <a:tr h="429812">
                <a:tc>
                  <a:txBody>
                    <a:bodyPr/>
                    <a:lstStyle/>
                    <a:p>
                      <a:pPr algn="ctr" fontAlgn="ctr"/>
                      <a:endParaRPr lang="ru-R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6"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Прирост за счёт одновременного </a:t>
                      </a:r>
                      <a:r>
                        <a:rPr lang="ru-RU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issue</a:t>
                      </a:r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в процентах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531273"/>
                  </a:ext>
                </a:extLst>
              </a:tr>
              <a:tr h="429812">
                <a:tc>
                  <a:txBody>
                    <a:bodyPr/>
                    <a:lstStyle/>
                    <a:p>
                      <a:pPr algn="ctr" fontAlgn="ctr"/>
                      <a:endParaRPr lang="ru-RU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157785"/>
                  </a:ext>
                </a:extLst>
              </a:tr>
              <a:tr h="429812">
                <a:tc>
                  <a:txBody>
                    <a:bodyPr/>
                    <a:lstStyle/>
                    <a:p>
                      <a:pPr algn="ctr" fontAlgn="ctr"/>
                      <a:endParaRPr lang="ru-R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678296"/>
                  </a:ext>
                </a:extLst>
              </a:tr>
              <a:tr h="429812">
                <a:tc>
                  <a:txBody>
                    <a:bodyPr/>
                    <a:lstStyle/>
                    <a:p>
                      <a:pPr algn="ctr" fontAlgn="ctr"/>
                      <a:endParaRPr lang="ru-R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631279"/>
                  </a:ext>
                </a:extLst>
              </a:tr>
              <a:tr h="4298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3740314"/>
                  </a:ext>
                </a:extLst>
              </a:tr>
              <a:tr h="42981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19,55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32,61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18,13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31,44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11,83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19,72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10,38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17,97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15,86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24,71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26,13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10,95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17,06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791663"/>
                  </a:ext>
                </a:extLst>
              </a:tr>
              <a:tr h="42981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39,15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18,39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37,48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23,71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10,52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21,45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31,78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11,78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22,97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020723"/>
                  </a:ext>
                </a:extLst>
              </a:tr>
              <a:tr h="42981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41,07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18,39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38,39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24,86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10,52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21,96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32,15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33,33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11,78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23,06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358133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2658F6-E4AF-41F9-ACFD-6047DEDC9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10</a:t>
            </a:fld>
            <a:endParaRPr lang="ru-RU"/>
          </a:p>
        </p:txBody>
      </p:sp>
      <p:graphicFrame>
        <p:nvGraphicFramePr>
          <p:cNvPr id="5" name="Таблица 3">
            <a:extLst>
              <a:ext uri="{FF2B5EF4-FFF2-40B4-BE49-F238E27FC236}">
                <a16:creationId xmlns:a16="http://schemas.microsoft.com/office/drawing/2014/main" id="{AA618514-C29C-4B9D-825D-9B7EC3BD74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153071"/>
              </p:ext>
            </p:extLst>
          </p:nvPr>
        </p:nvGraphicFramePr>
        <p:xfrm>
          <a:off x="6759544" y="5717400"/>
          <a:ext cx="513237" cy="399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237">
                  <a:extLst>
                    <a:ext uri="{9D8B030D-6E8A-4147-A177-3AD203B41FA5}">
                      <a16:colId xmlns:a16="http://schemas.microsoft.com/office/drawing/2014/main" val="185892296"/>
                    </a:ext>
                  </a:extLst>
                </a:gridCol>
              </a:tblGrid>
              <a:tr h="3994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24198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BF78526-08DB-48D6-B017-448E7BC6D7A3}"/>
              </a:ext>
            </a:extLst>
          </p:cNvPr>
          <p:cNvSpPr txBox="1"/>
          <p:nvPr/>
        </p:nvSpPr>
        <p:spPr>
          <a:xfrm>
            <a:off x="7272781" y="572345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– наибольший показатель среди </a:t>
            </a:r>
            <a:r>
              <a:rPr lang="en-US" dirty="0" err="1"/>
              <a:t>hiperf</a:t>
            </a:r>
            <a:r>
              <a:rPr lang="en-US" dirty="0"/>
              <a:t>/</a:t>
            </a:r>
            <a:r>
              <a:rPr lang="en-US" dirty="0" err="1"/>
              <a:t>hifreq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972CC9-4853-4B4A-B14C-2DD3D59EFAE4}"/>
              </a:ext>
            </a:extLst>
          </p:cNvPr>
          <p:cNvSpPr txBox="1"/>
          <p:nvPr/>
        </p:nvSpPr>
        <p:spPr>
          <a:xfrm>
            <a:off x="197963" y="5723456"/>
            <a:ext cx="6561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1_fu’s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–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прирост без дублирования функциональных юнитов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C6ED44-E849-48EC-AE96-EA0175C2A44F}"/>
              </a:ext>
            </a:extLst>
          </p:cNvPr>
          <p:cNvSpPr txBox="1"/>
          <p:nvPr/>
        </p:nvSpPr>
        <p:spPr>
          <a:xfrm>
            <a:off x="197963" y="6152786"/>
            <a:ext cx="6938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x_fu’s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–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 количество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BALU/ALU/BMU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равно количеству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way’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ев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5478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BF4C9-1966-47D1-ACBD-5396AF40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Оптимистичный сценарий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3172D29-B229-401D-B0FD-B3B6B07B94E3}"/>
              </a:ext>
            </a:extLst>
          </p:cNvPr>
          <p:cNvGraphicFramePr>
            <a:graphicFrameLocks noGrp="1"/>
          </p:cNvGraphicFramePr>
          <p:nvPr/>
        </p:nvGraphicFramePr>
        <p:xfrm>
          <a:off x="113121" y="1888650"/>
          <a:ext cx="11965757" cy="3541192"/>
        </p:xfrm>
        <a:graphic>
          <a:graphicData uri="http://schemas.openxmlformats.org/drawingml/2006/table">
            <a:tbl>
              <a:tblPr/>
              <a:tblGrid>
                <a:gridCol w="867085">
                  <a:extLst>
                    <a:ext uri="{9D8B030D-6E8A-4147-A177-3AD203B41FA5}">
                      <a16:colId xmlns:a16="http://schemas.microsoft.com/office/drawing/2014/main" val="289746256"/>
                    </a:ext>
                  </a:extLst>
                </a:gridCol>
                <a:gridCol w="693667">
                  <a:extLst>
                    <a:ext uri="{9D8B030D-6E8A-4147-A177-3AD203B41FA5}">
                      <a16:colId xmlns:a16="http://schemas.microsoft.com/office/drawing/2014/main" val="2526974512"/>
                    </a:ext>
                  </a:extLst>
                </a:gridCol>
                <a:gridCol w="693667">
                  <a:extLst>
                    <a:ext uri="{9D8B030D-6E8A-4147-A177-3AD203B41FA5}">
                      <a16:colId xmlns:a16="http://schemas.microsoft.com/office/drawing/2014/main" val="3483590289"/>
                    </a:ext>
                  </a:extLst>
                </a:gridCol>
                <a:gridCol w="693667">
                  <a:extLst>
                    <a:ext uri="{9D8B030D-6E8A-4147-A177-3AD203B41FA5}">
                      <a16:colId xmlns:a16="http://schemas.microsoft.com/office/drawing/2014/main" val="4204702268"/>
                    </a:ext>
                  </a:extLst>
                </a:gridCol>
                <a:gridCol w="693667">
                  <a:extLst>
                    <a:ext uri="{9D8B030D-6E8A-4147-A177-3AD203B41FA5}">
                      <a16:colId xmlns:a16="http://schemas.microsoft.com/office/drawing/2014/main" val="756170351"/>
                    </a:ext>
                  </a:extLst>
                </a:gridCol>
                <a:gridCol w="693667">
                  <a:extLst>
                    <a:ext uri="{9D8B030D-6E8A-4147-A177-3AD203B41FA5}">
                      <a16:colId xmlns:a16="http://schemas.microsoft.com/office/drawing/2014/main" val="5792945"/>
                    </a:ext>
                  </a:extLst>
                </a:gridCol>
                <a:gridCol w="693667">
                  <a:extLst>
                    <a:ext uri="{9D8B030D-6E8A-4147-A177-3AD203B41FA5}">
                      <a16:colId xmlns:a16="http://schemas.microsoft.com/office/drawing/2014/main" val="384483417"/>
                    </a:ext>
                  </a:extLst>
                </a:gridCol>
                <a:gridCol w="693667">
                  <a:extLst>
                    <a:ext uri="{9D8B030D-6E8A-4147-A177-3AD203B41FA5}">
                      <a16:colId xmlns:a16="http://schemas.microsoft.com/office/drawing/2014/main" val="166081462"/>
                    </a:ext>
                  </a:extLst>
                </a:gridCol>
                <a:gridCol w="693667">
                  <a:extLst>
                    <a:ext uri="{9D8B030D-6E8A-4147-A177-3AD203B41FA5}">
                      <a16:colId xmlns:a16="http://schemas.microsoft.com/office/drawing/2014/main" val="3392130948"/>
                    </a:ext>
                  </a:extLst>
                </a:gridCol>
                <a:gridCol w="693667">
                  <a:extLst>
                    <a:ext uri="{9D8B030D-6E8A-4147-A177-3AD203B41FA5}">
                      <a16:colId xmlns:a16="http://schemas.microsoft.com/office/drawing/2014/main" val="933612713"/>
                    </a:ext>
                  </a:extLst>
                </a:gridCol>
                <a:gridCol w="693667">
                  <a:extLst>
                    <a:ext uri="{9D8B030D-6E8A-4147-A177-3AD203B41FA5}">
                      <a16:colId xmlns:a16="http://schemas.microsoft.com/office/drawing/2014/main" val="2797951853"/>
                    </a:ext>
                  </a:extLst>
                </a:gridCol>
                <a:gridCol w="693667">
                  <a:extLst>
                    <a:ext uri="{9D8B030D-6E8A-4147-A177-3AD203B41FA5}">
                      <a16:colId xmlns:a16="http://schemas.microsoft.com/office/drawing/2014/main" val="3569678597"/>
                    </a:ext>
                  </a:extLst>
                </a:gridCol>
                <a:gridCol w="693667">
                  <a:extLst>
                    <a:ext uri="{9D8B030D-6E8A-4147-A177-3AD203B41FA5}">
                      <a16:colId xmlns:a16="http://schemas.microsoft.com/office/drawing/2014/main" val="2309627479"/>
                    </a:ext>
                  </a:extLst>
                </a:gridCol>
                <a:gridCol w="693667">
                  <a:extLst>
                    <a:ext uri="{9D8B030D-6E8A-4147-A177-3AD203B41FA5}">
                      <a16:colId xmlns:a16="http://schemas.microsoft.com/office/drawing/2014/main" val="1475999397"/>
                    </a:ext>
                  </a:extLst>
                </a:gridCol>
                <a:gridCol w="693667">
                  <a:extLst>
                    <a:ext uri="{9D8B030D-6E8A-4147-A177-3AD203B41FA5}">
                      <a16:colId xmlns:a16="http://schemas.microsoft.com/office/drawing/2014/main" val="332175919"/>
                    </a:ext>
                  </a:extLst>
                </a:gridCol>
                <a:gridCol w="693667">
                  <a:extLst>
                    <a:ext uri="{9D8B030D-6E8A-4147-A177-3AD203B41FA5}">
                      <a16:colId xmlns:a16="http://schemas.microsoft.com/office/drawing/2014/main" val="3594938069"/>
                    </a:ext>
                  </a:extLst>
                </a:gridCol>
                <a:gridCol w="693667">
                  <a:extLst>
                    <a:ext uri="{9D8B030D-6E8A-4147-A177-3AD203B41FA5}">
                      <a16:colId xmlns:a16="http://schemas.microsoft.com/office/drawing/2014/main" val="2412890874"/>
                    </a:ext>
                  </a:extLst>
                </a:gridCol>
              </a:tblGrid>
              <a:tr h="442649">
                <a:tc>
                  <a:txBody>
                    <a:bodyPr/>
                    <a:lstStyle/>
                    <a:p>
                      <a:pPr algn="ctr" fontAlgn="ctr"/>
                      <a:endParaRPr lang="ru-R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6"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Общий прирост в процентах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241274"/>
                  </a:ext>
                </a:extLst>
              </a:tr>
              <a:tr h="442649">
                <a:tc>
                  <a:txBody>
                    <a:bodyPr/>
                    <a:lstStyle/>
                    <a:p>
                      <a:pPr algn="ctr" fontAlgn="ctr"/>
                      <a:endParaRPr lang="ru-R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789833"/>
                  </a:ext>
                </a:extLst>
              </a:tr>
              <a:tr h="442649">
                <a:tc>
                  <a:txBody>
                    <a:bodyPr/>
                    <a:lstStyle/>
                    <a:p>
                      <a:pPr algn="ctr" fontAlgn="ctr"/>
                      <a:endParaRPr lang="ru-R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962477"/>
                  </a:ext>
                </a:extLst>
              </a:tr>
              <a:tr h="442649">
                <a:tc>
                  <a:txBody>
                    <a:bodyPr/>
                    <a:lstStyle/>
                    <a:p>
                      <a:pPr algn="ctr" fontAlgn="ctr"/>
                      <a:endParaRPr lang="ru-R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279063"/>
                  </a:ext>
                </a:extLst>
              </a:tr>
              <a:tr h="4426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x_fu's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40959"/>
                  </a:ext>
                </a:extLst>
              </a:tr>
              <a:tr h="44264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46,01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22,11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47,14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28,27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12,63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16,51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36,57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13,41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25,52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13,69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26,74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986980"/>
                  </a:ext>
                </a:extLst>
              </a:tr>
              <a:tr h="44264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23,51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58,98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22,67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61,73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12,88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16,52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43,67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48,91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31,38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13,71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34,31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050482"/>
                  </a:ext>
                </a:extLst>
              </a:tr>
              <a:tr h="44264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23,52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58,68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22,67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60,98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12,87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34,69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16,52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44,46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49,64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31,93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13,71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841681"/>
                  </a:ext>
                </a:extLst>
              </a:tr>
            </a:tbl>
          </a:graphicData>
        </a:graphic>
      </p:graphicFrame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D8798C-887F-4F6F-83F6-359DC996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11</a:t>
            </a:fld>
            <a:endParaRPr lang="ru-RU"/>
          </a:p>
        </p:txBody>
      </p:sp>
      <p:graphicFrame>
        <p:nvGraphicFramePr>
          <p:cNvPr id="5" name="Таблица 3">
            <a:extLst>
              <a:ext uri="{FF2B5EF4-FFF2-40B4-BE49-F238E27FC236}">
                <a16:creationId xmlns:a16="http://schemas.microsoft.com/office/drawing/2014/main" id="{BDE29FC5-B9EB-44E1-9452-AA8925646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45271"/>
              </p:ext>
            </p:extLst>
          </p:nvPr>
        </p:nvGraphicFramePr>
        <p:xfrm>
          <a:off x="6759544" y="5717400"/>
          <a:ext cx="513237" cy="399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237">
                  <a:extLst>
                    <a:ext uri="{9D8B030D-6E8A-4147-A177-3AD203B41FA5}">
                      <a16:colId xmlns:a16="http://schemas.microsoft.com/office/drawing/2014/main" val="185892296"/>
                    </a:ext>
                  </a:extLst>
                </a:gridCol>
              </a:tblGrid>
              <a:tr h="39944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24198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FEE9636-B0CC-42AC-A7FE-E1E25D8E5497}"/>
              </a:ext>
            </a:extLst>
          </p:cNvPr>
          <p:cNvSpPr txBox="1"/>
          <p:nvPr/>
        </p:nvSpPr>
        <p:spPr>
          <a:xfrm>
            <a:off x="7272781" y="572345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– наибольший показатель среди </a:t>
            </a:r>
            <a:r>
              <a:rPr lang="en-US" dirty="0" err="1"/>
              <a:t>hiperf</a:t>
            </a:r>
            <a:r>
              <a:rPr lang="en-US" dirty="0"/>
              <a:t>/</a:t>
            </a:r>
            <a:r>
              <a:rPr lang="en-US" dirty="0" err="1"/>
              <a:t>hifreq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141607-72C5-4207-84EE-C35CA8104766}"/>
              </a:ext>
            </a:extLst>
          </p:cNvPr>
          <p:cNvSpPr txBox="1"/>
          <p:nvPr/>
        </p:nvSpPr>
        <p:spPr>
          <a:xfrm>
            <a:off x="197963" y="5723456"/>
            <a:ext cx="6561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1_fu’s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–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прирост без дублирования функциональных юнитов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B02E36-F78B-45F8-9042-844C38DBAA60}"/>
              </a:ext>
            </a:extLst>
          </p:cNvPr>
          <p:cNvSpPr txBox="1"/>
          <p:nvPr/>
        </p:nvSpPr>
        <p:spPr>
          <a:xfrm>
            <a:off x="197963" y="6152786"/>
            <a:ext cx="6938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</a:rPr>
              <a:t>x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_fu’s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–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 количество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BALU/ALU/BMU 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равно количеству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way’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ев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017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704FA7-C713-4915-9AF9-AA34E263F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96" y="2766218"/>
            <a:ext cx="11887986" cy="1325563"/>
          </a:xfrm>
        </p:spPr>
        <p:txBody>
          <a:bodyPr>
            <a:noAutofit/>
          </a:bodyPr>
          <a:lstStyle/>
          <a:p>
            <a:pPr algn="ctr"/>
            <a:r>
              <a:rPr lang="ru-RU" sz="5000" dirty="0"/>
              <a:t>Используемость дополнительных функциональных юнитов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14F05C1-9CD4-4E52-96D2-A675A939E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228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BF4C9-1966-47D1-ACBD-5396AF40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Используемость </a:t>
            </a:r>
            <a:r>
              <a:rPr lang="en-US" dirty="0"/>
              <a:t>ALU</a:t>
            </a:r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DA52425-8B17-40F5-8761-540C07CD0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69629"/>
              </p:ext>
            </p:extLst>
          </p:nvPr>
        </p:nvGraphicFramePr>
        <p:xfrm>
          <a:off x="1739558" y="1454122"/>
          <a:ext cx="7410029" cy="1325562"/>
        </p:xfrm>
        <a:graphic>
          <a:graphicData uri="http://schemas.openxmlformats.org/drawingml/2006/table">
            <a:tbl>
              <a:tblPr/>
              <a:tblGrid>
                <a:gridCol w="1170005">
                  <a:extLst>
                    <a:ext uri="{9D8B030D-6E8A-4147-A177-3AD203B41FA5}">
                      <a16:colId xmlns:a16="http://schemas.microsoft.com/office/drawing/2014/main" val="3380815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261482774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395190485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670056489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81442409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167720744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714122087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4243911144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731742404"/>
                    </a:ext>
                  </a:extLst>
                </a:gridCol>
              </a:tblGrid>
              <a:tr h="220927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Процент используемости </a:t>
                      </a:r>
                      <a:r>
                        <a:rPr lang="en-US" sz="1400" dirty="0"/>
                        <a:t>ALU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двумя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way'ями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925183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59425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028961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№FU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0446984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522981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187675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6C7E4702-5E41-4ABC-ADFF-1EFC72D0E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795428"/>
              </p:ext>
            </p:extLst>
          </p:nvPr>
        </p:nvGraphicFramePr>
        <p:xfrm>
          <a:off x="1739557" y="3105731"/>
          <a:ext cx="7410029" cy="1537970"/>
        </p:xfrm>
        <a:graphic>
          <a:graphicData uri="http://schemas.openxmlformats.org/drawingml/2006/table">
            <a:tbl>
              <a:tblPr/>
              <a:tblGrid>
                <a:gridCol w="1170005">
                  <a:extLst>
                    <a:ext uri="{9D8B030D-6E8A-4147-A177-3AD203B41FA5}">
                      <a16:colId xmlns:a16="http://schemas.microsoft.com/office/drawing/2014/main" val="1927094732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658484980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4270281034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4179021197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956685376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064543867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356018506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997101262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409192611"/>
                    </a:ext>
                  </a:extLst>
                </a:gridCol>
              </a:tblGrid>
              <a:tr h="189366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Процент используемости </a:t>
                      </a:r>
                      <a:r>
                        <a:rPr lang="en-US" sz="1400" dirty="0"/>
                        <a:t>ALU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тремя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way'ями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727022"/>
                  </a:ext>
                </a:extLst>
              </a:tr>
              <a:tr h="189366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640960"/>
                  </a:ext>
                </a:extLst>
              </a:tr>
              <a:tr h="189366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379094"/>
                  </a:ext>
                </a:extLst>
              </a:tr>
              <a:tr h="1893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№FU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2213939"/>
                  </a:ext>
                </a:extLst>
              </a:tr>
              <a:tr h="18936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71,6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71,6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458955"/>
                  </a:ext>
                </a:extLst>
              </a:tr>
              <a:tr h="18936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048776"/>
                  </a:ext>
                </a:extLst>
              </a:tr>
              <a:tr h="18936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4071480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F75FB0B4-0367-40C5-B94C-85EC8BBF8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869444"/>
              </p:ext>
            </p:extLst>
          </p:nvPr>
        </p:nvGraphicFramePr>
        <p:xfrm>
          <a:off x="1739557" y="4757339"/>
          <a:ext cx="7410028" cy="1757680"/>
        </p:xfrm>
        <a:graphic>
          <a:graphicData uri="http://schemas.openxmlformats.org/drawingml/2006/table">
            <a:tbl>
              <a:tblPr/>
              <a:tblGrid>
                <a:gridCol w="1170004">
                  <a:extLst>
                    <a:ext uri="{9D8B030D-6E8A-4147-A177-3AD203B41FA5}">
                      <a16:colId xmlns:a16="http://schemas.microsoft.com/office/drawing/2014/main" val="197617433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382848606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135413438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4128321933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873697844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183258900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765632917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764135598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883538389"/>
                    </a:ext>
                  </a:extLst>
                </a:gridCol>
              </a:tblGrid>
              <a:tr h="190156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Процент используемости </a:t>
                      </a:r>
                      <a:r>
                        <a:rPr lang="en-US" sz="1400" dirty="0"/>
                        <a:t>ALU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четырьмя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way'ями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962685"/>
                  </a:ext>
                </a:extLst>
              </a:tr>
              <a:tr h="190156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881418"/>
                  </a:ext>
                </a:extLst>
              </a:tr>
              <a:tr h="190156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273832"/>
                  </a:ext>
                </a:extLst>
              </a:tr>
              <a:tr h="1901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№FU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556657"/>
                  </a:ext>
                </a:extLst>
              </a:tr>
              <a:tr h="19015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71,5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565148"/>
                  </a:ext>
                </a:extLst>
              </a:tr>
              <a:tr h="19015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982535"/>
                  </a:ext>
                </a:extLst>
              </a:tr>
              <a:tr h="190156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870087"/>
                  </a:ext>
                </a:extLst>
              </a:tr>
              <a:tr h="190156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334233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26A1BFE-489A-4C91-A323-D774CECE3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656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BF4C9-1966-47D1-ACBD-5396AF40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Используемость </a:t>
            </a:r>
            <a:r>
              <a:rPr lang="en-US" dirty="0"/>
              <a:t>BALU</a:t>
            </a:r>
            <a:endParaRPr lang="ru-RU" dirty="0"/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EA0D4F48-3897-466B-AAB3-99FFF517D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080618"/>
              </p:ext>
            </p:extLst>
          </p:nvPr>
        </p:nvGraphicFramePr>
        <p:xfrm>
          <a:off x="1777263" y="1521284"/>
          <a:ext cx="7410029" cy="1318260"/>
        </p:xfrm>
        <a:graphic>
          <a:graphicData uri="http://schemas.openxmlformats.org/drawingml/2006/table">
            <a:tbl>
              <a:tblPr/>
              <a:tblGrid>
                <a:gridCol w="1170005">
                  <a:extLst>
                    <a:ext uri="{9D8B030D-6E8A-4147-A177-3AD203B41FA5}">
                      <a16:colId xmlns:a16="http://schemas.microsoft.com/office/drawing/2014/main" val="2544084587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993074456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026621706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386729507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556486189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345939791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648987503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003142461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502196791"/>
                    </a:ext>
                  </a:extLst>
                </a:gridCol>
              </a:tblGrid>
              <a:tr h="195448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Процент используемости </a:t>
                      </a:r>
                      <a:r>
                        <a:rPr lang="en-US" sz="1400" dirty="0"/>
                        <a:t>BALU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двумя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way'ями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925397"/>
                  </a:ext>
                </a:extLst>
              </a:tr>
              <a:tr h="195448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862368"/>
                  </a:ext>
                </a:extLst>
              </a:tr>
              <a:tr h="195448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326647"/>
                  </a:ext>
                </a:extLst>
              </a:tr>
              <a:tr h="1954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№FU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139616"/>
                  </a:ext>
                </a:extLst>
              </a:tr>
              <a:tr h="19544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77,5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77,5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587113"/>
                  </a:ext>
                </a:extLst>
              </a:tr>
              <a:tr h="19544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818989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0EFA8A1-D190-4EFC-900E-E5DA665DC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917772"/>
              </p:ext>
            </p:extLst>
          </p:nvPr>
        </p:nvGraphicFramePr>
        <p:xfrm>
          <a:off x="1777263" y="2973741"/>
          <a:ext cx="7410029" cy="1537970"/>
        </p:xfrm>
        <a:graphic>
          <a:graphicData uri="http://schemas.openxmlformats.org/drawingml/2006/table">
            <a:tbl>
              <a:tblPr/>
              <a:tblGrid>
                <a:gridCol w="1170005">
                  <a:extLst>
                    <a:ext uri="{9D8B030D-6E8A-4147-A177-3AD203B41FA5}">
                      <a16:colId xmlns:a16="http://schemas.microsoft.com/office/drawing/2014/main" val="3421374428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547650800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409087333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126583581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709754949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4037386915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4183997021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775694968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4026056899"/>
                    </a:ext>
                  </a:extLst>
                </a:gridCol>
              </a:tblGrid>
              <a:tr h="200970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Процент используемости </a:t>
                      </a:r>
                      <a:r>
                        <a:rPr lang="en-US" sz="1400" dirty="0"/>
                        <a:t>BALU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тремя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way'ями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128366"/>
                  </a:ext>
                </a:extLst>
              </a:tr>
              <a:tr h="200970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309340"/>
                  </a:ext>
                </a:extLst>
              </a:tr>
              <a:tr h="200970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670972"/>
                  </a:ext>
                </a:extLst>
              </a:tr>
              <a:tr h="2009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№FU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205318"/>
                  </a:ext>
                </a:extLst>
              </a:tr>
              <a:tr h="20097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79,6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79,6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707773"/>
                  </a:ext>
                </a:extLst>
              </a:tr>
              <a:tr h="20097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864753"/>
                  </a:ext>
                </a:extLst>
              </a:tr>
              <a:tr h="20097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1243314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F811EE97-0F71-45AE-8020-F78316DD84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550946"/>
              </p:ext>
            </p:extLst>
          </p:nvPr>
        </p:nvGraphicFramePr>
        <p:xfrm>
          <a:off x="1777263" y="4660300"/>
          <a:ext cx="7410029" cy="1757680"/>
        </p:xfrm>
        <a:graphic>
          <a:graphicData uri="http://schemas.openxmlformats.org/drawingml/2006/table">
            <a:tbl>
              <a:tblPr/>
              <a:tblGrid>
                <a:gridCol w="1170005">
                  <a:extLst>
                    <a:ext uri="{9D8B030D-6E8A-4147-A177-3AD203B41FA5}">
                      <a16:colId xmlns:a16="http://schemas.microsoft.com/office/drawing/2014/main" val="1194848826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13546075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180211544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104564334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772785909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731274905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186300061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718966435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829019911"/>
                    </a:ext>
                  </a:extLst>
                </a:gridCol>
              </a:tblGrid>
              <a:tr h="193629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Процент используемости </a:t>
                      </a:r>
                      <a:r>
                        <a:rPr lang="en-US" sz="1400" dirty="0"/>
                        <a:t>BALU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четырьмя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way'ями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710607"/>
                  </a:ext>
                </a:extLst>
              </a:tr>
              <a:tr h="193629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653338"/>
                  </a:ext>
                </a:extLst>
              </a:tr>
              <a:tr h="193629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497693"/>
                  </a:ext>
                </a:extLst>
              </a:tr>
              <a:tr h="1936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№FU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034520"/>
                  </a:ext>
                </a:extLst>
              </a:tr>
              <a:tr h="19362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107999"/>
                  </a:ext>
                </a:extLst>
              </a:tr>
              <a:tr h="19362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419047"/>
                  </a:ext>
                </a:extLst>
              </a:tr>
              <a:tr h="193629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870197"/>
                  </a:ext>
                </a:extLst>
              </a:tr>
              <a:tr h="19362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870137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13E99BD-6735-4292-BFE5-B71B4621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5065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BF4C9-1966-47D1-ACBD-5396AF40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Используемость </a:t>
            </a:r>
            <a:r>
              <a:rPr lang="en-US" dirty="0"/>
              <a:t>BMU</a:t>
            </a:r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4898745-635C-46D4-9C8B-B0478AA8F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127563"/>
              </p:ext>
            </p:extLst>
          </p:nvPr>
        </p:nvGraphicFramePr>
        <p:xfrm>
          <a:off x="1899811" y="1411254"/>
          <a:ext cx="7410029" cy="1318260"/>
        </p:xfrm>
        <a:graphic>
          <a:graphicData uri="http://schemas.openxmlformats.org/drawingml/2006/table">
            <a:tbl>
              <a:tblPr/>
              <a:tblGrid>
                <a:gridCol w="1170005">
                  <a:extLst>
                    <a:ext uri="{9D8B030D-6E8A-4147-A177-3AD203B41FA5}">
                      <a16:colId xmlns:a16="http://schemas.microsoft.com/office/drawing/2014/main" val="153626330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37131207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331753096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459808277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530982117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563272535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555002665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615572529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969961771"/>
                    </a:ext>
                  </a:extLst>
                </a:gridCol>
              </a:tblGrid>
              <a:tr h="193772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Процент используемости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bmu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двумя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way'ями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047779"/>
                  </a:ext>
                </a:extLst>
              </a:tr>
              <a:tr h="193772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445101"/>
                  </a:ext>
                </a:extLst>
              </a:tr>
              <a:tr h="193772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897471"/>
                  </a:ext>
                </a:extLst>
              </a:tr>
              <a:tr h="1937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№FU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6747111"/>
                  </a:ext>
                </a:extLst>
              </a:tr>
              <a:tr h="19377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87,6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87,6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870100"/>
                  </a:ext>
                </a:extLst>
              </a:tr>
              <a:tr h="19377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53882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A33926DE-C6CB-423E-B8A9-BC6C657F8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744593"/>
              </p:ext>
            </p:extLst>
          </p:nvPr>
        </p:nvGraphicFramePr>
        <p:xfrm>
          <a:off x="1899811" y="2944040"/>
          <a:ext cx="7410029" cy="1537970"/>
        </p:xfrm>
        <a:graphic>
          <a:graphicData uri="http://schemas.openxmlformats.org/drawingml/2006/table">
            <a:tbl>
              <a:tblPr/>
              <a:tblGrid>
                <a:gridCol w="1170005">
                  <a:extLst>
                    <a:ext uri="{9D8B030D-6E8A-4147-A177-3AD203B41FA5}">
                      <a16:colId xmlns:a16="http://schemas.microsoft.com/office/drawing/2014/main" val="3082947437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955180513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71136740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550512408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603582127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900913258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90128397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3280520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2555629907"/>
                    </a:ext>
                  </a:extLst>
                </a:gridCol>
              </a:tblGrid>
              <a:tr h="187038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Процент используемости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bmu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тремя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way'ями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976691"/>
                  </a:ext>
                </a:extLst>
              </a:tr>
              <a:tr h="187038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972391"/>
                  </a:ext>
                </a:extLst>
              </a:tr>
              <a:tr h="187038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622131"/>
                  </a:ext>
                </a:extLst>
              </a:tr>
              <a:tr h="1870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№FU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311831"/>
                  </a:ext>
                </a:extLst>
              </a:tr>
              <a:tr h="18703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9897232"/>
                  </a:ext>
                </a:extLst>
              </a:tr>
              <a:tr h="18703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24,3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693810"/>
                  </a:ext>
                </a:extLst>
              </a:tr>
              <a:tr h="18703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244167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2BCDF634-708C-4B52-8118-8A0AE60F4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237478"/>
              </p:ext>
            </p:extLst>
          </p:nvPr>
        </p:nvGraphicFramePr>
        <p:xfrm>
          <a:off x="1899811" y="4623459"/>
          <a:ext cx="7410029" cy="1757680"/>
        </p:xfrm>
        <a:graphic>
          <a:graphicData uri="http://schemas.openxmlformats.org/drawingml/2006/table">
            <a:tbl>
              <a:tblPr/>
              <a:tblGrid>
                <a:gridCol w="1170005">
                  <a:extLst>
                    <a:ext uri="{9D8B030D-6E8A-4147-A177-3AD203B41FA5}">
                      <a16:colId xmlns:a16="http://schemas.microsoft.com/office/drawing/2014/main" val="3754368251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3152898995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930596474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156719666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4261023978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185535072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4002924499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785081486"/>
                    </a:ext>
                  </a:extLst>
                </a:gridCol>
                <a:gridCol w="780003">
                  <a:extLst>
                    <a:ext uri="{9D8B030D-6E8A-4147-A177-3AD203B41FA5}">
                      <a16:colId xmlns:a16="http://schemas.microsoft.com/office/drawing/2014/main" val="1666176259"/>
                    </a:ext>
                  </a:extLst>
                </a:gridCol>
              </a:tblGrid>
              <a:tr h="198417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8"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Процент используемости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bmu</a:t>
                      </a:r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четырьмя </a:t>
                      </a:r>
                      <a:r>
                        <a:rPr lang="ru-RU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way'ями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609012"/>
                  </a:ext>
                </a:extLst>
              </a:tr>
              <a:tr h="198417">
                <a:tc>
                  <a:txBody>
                    <a:bodyPr/>
                    <a:lstStyle/>
                    <a:p>
                      <a:pPr algn="ctr" fontAlgn="ctr"/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Coremark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Dhrystone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410018"/>
                  </a:ext>
                </a:extLst>
              </a:tr>
              <a:tr h="198417">
                <a:tc>
                  <a:txBody>
                    <a:bodyPr/>
                    <a:lstStyle/>
                    <a:p>
                      <a:pPr algn="ctr" fontAlgn="b"/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hiperf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hifreq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053390"/>
                  </a:ext>
                </a:extLst>
              </a:tr>
              <a:tr h="1984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№FU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rv64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09120"/>
                  </a:ext>
                </a:extLst>
              </a:tr>
              <a:tr h="19841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97,9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85,5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85,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115757"/>
                  </a:ext>
                </a:extLst>
              </a:tr>
              <a:tr h="19841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14,4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2508885"/>
                  </a:ext>
                </a:extLst>
              </a:tr>
              <a:tr h="198417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45736"/>
                  </a:ext>
                </a:extLst>
              </a:tr>
              <a:tr h="19841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7971268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E119020-6397-4F4A-B27C-96E8E5527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4318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BF4C9-1966-47D1-ACBD-5396AF40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Площадь (</a:t>
            </a:r>
            <a:r>
              <a:rPr lang="en-US" dirty="0"/>
              <a:t>cell area, 100 MHz</a:t>
            </a:r>
            <a:r>
              <a:rPr lang="ru-RU" dirty="0"/>
              <a:t>)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83E64301-9F36-42BD-98DF-89DBAE8E6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802059"/>
              </p:ext>
            </p:extLst>
          </p:nvPr>
        </p:nvGraphicFramePr>
        <p:xfrm>
          <a:off x="1181308" y="1742123"/>
          <a:ext cx="9041990" cy="2003283"/>
        </p:xfrm>
        <a:graphic>
          <a:graphicData uri="http://schemas.openxmlformats.org/drawingml/2006/table">
            <a:tbl>
              <a:tblPr/>
              <a:tblGrid>
                <a:gridCol w="709299">
                  <a:extLst>
                    <a:ext uri="{9D8B030D-6E8A-4147-A177-3AD203B41FA5}">
                      <a16:colId xmlns:a16="http://schemas.microsoft.com/office/drawing/2014/main" val="1023339747"/>
                    </a:ext>
                  </a:extLst>
                </a:gridCol>
                <a:gridCol w="647672">
                  <a:extLst>
                    <a:ext uri="{9D8B030D-6E8A-4147-A177-3AD203B41FA5}">
                      <a16:colId xmlns:a16="http://schemas.microsoft.com/office/drawing/2014/main" val="2876054327"/>
                    </a:ext>
                  </a:extLst>
                </a:gridCol>
                <a:gridCol w="647672">
                  <a:extLst>
                    <a:ext uri="{9D8B030D-6E8A-4147-A177-3AD203B41FA5}">
                      <a16:colId xmlns:a16="http://schemas.microsoft.com/office/drawing/2014/main" val="3044455892"/>
                    </a:ext>
                  </a:extLst>
                </a:gridCol>
                <a:gridCol w="647672">
                  <a:extLst>
                    <a:ext uri="{9D8B030D-6E8A-4147-A177-3AD203B41FA5}">
                      <a16:colId xmlns:a16="http://schemas.microsoft.com/office/drawing/2014/main" val="1318659303"/>
                    </a:ext>
                  </a:extLst>
                </a:gridCol>
                <a:gridCol w="647672">
                  <a:extLst>
                    <a:ext uri="{9D8B030D-6E8A-4147-A177-3AD203B41FA5}">
                      <a16:colId xmlns:a16="http://schemas.microsoft.com/office/drawing/2014/main" val="305480589"/>
                    </a:ext>
                  </a:extLst>
                </a:gridCol>
                <a:gridCol w="647672">
                  <a:extLst>
                    <a:ext uri="{9D8B030D-6E8A-4147-A177-3AD203B41FA5}">
                      <a16:colId xmlns:a16="http://schemas.microsoft.com/office/drawing/2014/main" val="4118800671"/>
                    </a:ext>
                  </a:extLst>
                </a:gridCol>
                <a:gridCol w="697493">
                  <a:extLst>
                    <a:ext uri="{9D8B030D-6E8A-4147-A177-3AD203B41FA5}">
                      <a16:colId xmlns:a16="http://schemas.microsoft.com/office/drawing/2014/main" val="868253493"/>
                    </a:ext>
                  </a:extLst>
                </a:gridCol>
                <a:gridCol w="767241">
                  <a:extLst>
                    <a:ext uri="{9D8B030D-6E8A-4147-A177-3AD203B41FA5}">
                      <a16:colId xmlns:a16="http://schemas.microsoft.com/office/drawing/2014/main" val="3294383361"/>
                    </a:ext>
                  </a:extLst>
                </a:gridCol>
                <a:gridCol w="647672">
                  <a:extLst>
                    <a:ext uri="{9D8B030D-6E8A-4147-A177-3AD203B41FA5}">
                      <a16:colId xmlns:a16="http://schemas.microsoft.com/office/drawing/2014/main" val="2129854388"/>
                    </a:ext>
                  </a:extLst>
                </a:gridCol>
                <a:gridCol w="647672">
                  <a:extLst>
                    <a:ext uri="{9D8B030D-6E8A-4147-A177-3AD203B41FA5}">
                      <a16:colId xmlns:a16="http://schemas.microsoft.com/office/drawing/2014/main" val="3480404196"/>
                    </a:ext>
                  </a:extLst>
                </a:gridCol>
                <a:gridCol w="167633">
                  <a:extLst>
                    <a:ext uri="{9D8B030D-6E8A-4147-A177-3AD203B41FA5}">
                      <a16:colId xmlns:a16="http://schemas.microsoft.com/office/drawing/2014/main" val="1313281316"/>
                    </a:ext>
                  </a:extLst>
                </a:gridCol>
                <a:gridCol w="480039">
                  <a:extLst>
                    <a:ext uri="{9D8B030D-6E8A-4147-A177-3AD203B41FA5}">
                      <a16:colId xmlns:a16="http://schemas.microsoft.com/office/drawing/2014/main" val="1028810616"/>
                    </a:ext>
                  </a:extLst>
                </a:gridCol>
                <a:gridCol w="190521">
                  <a:extLst>
                    <a:ext uri="{9D8B030D-6E8A-4147-A177-3AD203B41FA5}">
                      <a16:colId xmlns:a16="http://schemas.microsoft.com/office/drawing/2014/main" val="149052759"/>
                    </a:ext>
                  </a:extLst>
                </a:gridCol>
                <a:gridCol w="457151">
                  <a:extLst>
                    <a:ext uri="{9D8B030D-6E8A-4147-A177-3AD203B41FA5}">
                      <a16:colId xmlns:a16="http://schemas.microsoft.com/office/drawing/2014/main" val="3726093956"/>
                    </a:ext>
                  </a:extLst>
                </a:gridCol>
                <a:gridCol w="247276">
                  <a:extLst>
                    <a:ext uri="{9D8B030D-6E8A-4147-A177-3AD203B41FA5}">
                      <a16:colId xmlns:a16="http://schemas.microsoft.com/office/drawing/2014/main" val="3324979340"/>
                    </a:ext>
                  </a:extLst>
                </a:gridCol>
                <a:gridCol w="791633">
                  <a:extLst>
                    <a:ext uri="{9D8B030D-6E8A-4147-A177-3AD203B41FA5}">
                      <a16:colId xmlns:a16="http://schemas.microsoft.com/office/drawing/2014/main" val="1643759256"/>
                    </a:ext>
                  </a:extLst>
                </a:gridCol>
              </a:tblGrid>
              <a:tr h="402583">
                <a:tc>
                  <a:txBody>
                    <a:bodyPr/>
                    <a:lstStyle/>
                    <a:p>
                      <a:pPr algn="l" fontAlgn="b"/>
                      <a:endParaRPr lang="ru-R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5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Площадь модулей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7921345"/>
                  </a:ext>
                </a:extLst>
              </a:tr>
              <a:tr h="795534">
                <a:tc rowSpan="2">
                  <a:txBody>
                    <a:bodyPr/>
                    <a:lstStyle/>
                    <a:p>
                      <a:pPr algn="l" fontAlgn="b"/>
                      <a:endParaRPr lang="ru-RU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dirty="0"/>
                        <a:t>BALU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PIPELINE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L1i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9098582"/>
                  </a:ext>
                </a:extLst>
              </a:tr>
              <a:tr h="402583">
                <a:tc vMerge="1">
                  <a:txBody>
                    <a:bodyPr/>
                    <a:lstStyle/>
                    <a:p>
                      <a:pPr algn="ctr" fontAlgn="ctr"/>
                      <a:endParaRPr lang="ru-RU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Процент от площади конвейера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Процент от площади кластера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795399"/>
                  </a:ext>
                </a:extLst>
              </a:tr>
              <a:tr h="40258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18,10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78,02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9427324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E58D8EF-29B9-4A5D-844B-7B8DB2F74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364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C004B-B825-4AF5-B642-399C60D5D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461030"/>
            <a:ext cx="7620000" cy="2020464"/>
          </a:xfrm>
        </p:spPr>
        <p:txBody>
          <a:bodyPr>
            <a:normAutofit/>
          </a:bodyPr>
          <a:lstStyle/>
          <a:p>
            <a:r>
              <a:rPr lang="ru-RU" sz="5000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1540682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C004B-B825-4AF5-B642-399C60D5D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461030"/>
            <a:ext cx="7620000" cy="2020464"/>
          </a:xfrm>
        </p:spPr>
        <p:txBody>
          <a:bodyPr>
            <a:normAutofit/>
          </a:bodyPr>
          <a:lstStyle/>
          <a:p>
            <a:r>
              <a:rPr lang="ru-RU" sz="5000" dirty="0"/>
              <a:t>Дополнительные слайды</a:t>
            </a:r>
          </a:p>
        </p:txBody>
      </p:sp>
    </p:spTree>
    <p:extLst>
      <p:ext uri="{BB962C8B-B14F-4D97-AF65-F5344CB8AC3E}">
        <p14:creationId xmlns:p14="http://schemas.microsoft.com/office/powerpoint/2010/main" val="508260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BF4C9-1966-47D1-ACBD-5396AF402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97" y="365125"/>
            <a:ext cx="11642103" cy="1325563"/>
          </a:xfrm>
        </p:spPr>
        <p:txBody>
          <a:bodyPr>
            <a:normAutofit/>
          </a:bodyPr>
          <a:lstStyle/>
          <a:p>
            <a:r>
              <a:rPr lang="ru-RU" sz="3500" dirty="0"/>
              <a:t>Параметры запусков </a:t>
            </a:r>
            <a:r>
              <a:rPr lang="en-US" sz="3500" dirty="0"/>
              <a:t>Coremark </a:t>
            </a:r>
            <a:r>
              <a:rPr lang="ru-RU" sz="3500" dirty="0"/>
              <a:t>и </a:t>
            </a:r>
            <a:r>
              <a:rPr lang="en-US" sz="3500" dirty="0"/>
              <a:t>Dhrystone</a:t>
            </a:r>
            <a:endParaRPr lang="ru-RU" sz="35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34F66D-65ED-41B9-B689-91437F804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19</a:t>
            </a:fld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4498A39-08BF-09B7-F04B-8AFADA7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754" y="1825625"/>
            <a:ext cx="11730446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Компилятор</a:t>
            </a:r>
            <a:r>
              <a:rPr lang="en-US" dirty="0"/>
              <a:t>: GCC</a:t>
            </a:r>
            <a:r>
              <a:rPr lang="ru-RU" dirty="0"/>
              <a:t> </a:t>
            </a:r>
            <a:r>
              <a:rPr lang="en-US" dirty="0"/>
              <a:t>14.2.0 </a:t>
            </a:r>
            <a:r>
              <a:rPr lang="en-US" dirty="0" err="1"/>
              <a:t>sc</a:t>
            </a:r>
            <a:r>
              <a:rPr lang="en-US" dirty="0"/>
              <a:t>-dt 2025.03 </a:t>
            </a:r>
          </a:p>
          <a:p>
            <a:pPr marL="0" indent="0">
              <a:buNone/>
            </a:pPr>
            <a:r>
              <a:rPr lang="ru-RU" dirty="0"/>
              <a:t>Флаги запуска</a:t>
            </a:r>
            <a:r>
              <a:rPr lang="en-US" dirty="0"/>
              <a:t> : -O3 -</a:t>
            </a:r>
            <a:r>
              <a:rPr lang="en-US" dirty="0" err="1"/>
              <a:t>funroll</a:t>
            </a:r>
            <a:r>
              <a:rPr lang="en-US" dirty="0"/>
              <a:t>-loops -</a:t>
            </a:r>
            <a:r>
              <a:rPr lang="en-US" dirty="0" err="1"/>
              <a:t>fpeel</a:t>
            </a:r>
            <a:r>
              <a:rPr lang="en-US" dirty="0"/>
              <a:t>-loops -</a:t>
            </a:r>
            <a:r>
              <a:rPr lang="en-US" dirty="0" err="1"/>
              <a:t>fgcse-sm</a:t>
            </a:r>
            <a:r>
              <a:rPr lang="en-US" dirty="0"/>
              <a:t> -</a:t>
            </a:r>
            <a:r>
              <a:rPr lang="en-US" dirty="0" err="1"/>
              <a:t>fgcse</a:t>
            </a:r>
            <a:r>
              <a:rPr lang="en-US" dirty="0"/>
              <a:t>-las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1573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C004B-B825-4AF5-B642-399C60D5D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95" y="1461030"/>
            <a:ext cx="11972041" cy="2020464"/>
          </a:xfrm>
        </p:spPr>
        <p:txBody>
          <a:bodyPr>
            <a:normAutofit/>
          </a:bodyPr>
          <a:lstStyle/>
          <a:p>
            <a:r>
              <a:rPr lang="ru-RU" sz="5000" dirty="0"/>
              <a:t>Ожидаемый рост производительности в процентах</a:t>
            </a:r>
          </a:p>
        </p:txBody>
      </p:sp>
    </p:spTree>
    <p:extLst>
      <p:ext uri="{BB962C8B-B14F-4D97-AF65-F5344CB8AC3E}">
        <p14:creationId xmlns:p14="http://schemas.microsoft.com/office/powerpoint/2010/main" val="2690508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BF4C9-1966-47D1-ACBD-5396AF40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Пессимистичный сценарий</a:t>
            </a:r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14786459-7DCE-4D50-BA9D-B7AE52167AE0}"/>
              </a:ext>
            </a:extLst>
          </p:cNvPr>
          <p:cNvGraphicFramePr>
            <a:graphicFrameLocks/>
          </p:cNvGraphicFramePr>
          <p:nvPr/>
        </p:nvGraphicFramePr>
        <p:xfrm>
          <a:off x="162631" y="1274406"/>
          <a:ext cx="5933369" cy="4309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A854A51F-07C6-4496-A88C-A620E60ED658}"/>
              </a:ext>
            </a:extLst>
          </p:cNvPr>
          <p:cNvGraphicFramePr>
            <a:graphicFrameLocks/>
          </p:cNvGraphicFramePr>
          <p:nvPr/>
        </p:nvGraphicFramePr>
        <p:xfrm>
          <a:off x="5995868" y="1274406"/>
          <a:ext cx="5796942" cy="4309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3C15DB-A18A-4F49-B3EF-A1552966B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6607" y="5583594"/>
            <a:ext cx="7858786" cy="90928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93C25A0-941C-438E-B687-AC037B1DB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036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BF4C9-1966-47D1-ACBD-5396AF40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Умеренно оптимистичный сценарий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17D12AC8-7A2B-405E-948D-7668AED6AEC1}"/>
              </a:ext>
            </a:extLst>
          </p:cNvPr>
          <p:cNvGraphicFramePr>
            <a:graphicFrameLocks/>
          </p:cNvGraphicFramePr>
          <p:nvPr/>
        </p:nvGraphicFramePr>
        <p:xfrm>
          <a:off x="200577" y="1216056"/>
          <a:ext cx="5813723" cy="4367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E12712E2-0E81-4DD6-809D-2D613CA8604E}"/>
              </a:ext>
            </a:extLst>
          </p:cNvPr>
          <p:cNvGraphicFramePr>
            <a:graphicFrameLocks/>
          </p:cNvGraphicFramePr>
          <p:nvPr/>
        </p:nvGraphicFramePr>
        <p:xfrm>
          <a:off x="6014300" y="1216057"/>
          <a:ext cx="6111297" cy="4367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FC8FD06-6FA0-498B-ACC7-B25960FCC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6607" y="5583594"/>
            <a:ext cx="7858786" cy="909281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94859542-F487-4BE5-BF1B-0464E99A3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975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BF4C9-1966-47D1-ACBD-5396AF40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Оптимистичный сценарий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39952FFB-04BC-4576-8BDE-8163E5A3609D}"/>
              </a:ext>
            </a:extLst>
          </p:cNvPr>
          <p:cNvGraphicFramePr>
            <a:graphicFrameLocks/>
          </p:cNvGraphicFramePr>
          <p:nvPr/>
        </p:nvGraphicFramePr>
        <p:xfrm>
          <a:off x="188536" y="1336079"/>
          <a:ext cx="5907464" cy="42475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6BC717D3-3050-4A63-A235-B1A9A78389B7}"/>
              </a:ext>
            </a:extLst>
          </p:cNvPr>
          <p:cNvGraphicFramePr>
            <a:graphicFrameLocks/>
          </p:cNvGraphicFramePr>
          <p:nvPr/>
        </p:nvGraphicFramePr>
        <p:xfrm>
          <a:off x="6017342" y="1274407"/>
          <a:ext cx="6174658" cy="4309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16F3C7-FFA0-4B2F-95DD-B070C0621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6607" y="5583594"/>
            <a:ext cx="7858786" cy="909281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991364-0B70-4A44-9017-690346B55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0A870-2C47-4DC2-B91B-F03EF2258C68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8577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19317</TotalTime>
  <Words>1336</Words>
  <Application>Microsoft Macintosh PowerPoint</Application>
  <PresentationFormat>Широкоэкранный</PresentationFormat>
  <Paragraphs>765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Тема Office</vt:lpstr>
      <vt:lpstr>Результаты замеров прироста производительности при реализации суперскалярности</vt:lpstr>
      <vt:lpstr>Модель расчёта</vt:lpstr>
      <vt:lpstr>Модификация трейслога</vt:lpstr>
      <vt:lpstr>Алгоритм получения тегов</vt:lpstr>
      <vt:lpstr>Полученные сценарии</vt:lpstr>
      <vt:lpstr>Неточности пессимистичного сценария</vt:lpstr>
      <vt:lpstr>Неточности умеренно оптимистичного сценария</vt:lpstr>
      <vt:lpstr>Ожидаемый рост производительности в процентах</vt:lpstr>
      <vt:lpstr>Пессимистичный сценарий</vt:lpstr>
      <vt:lpstr>Умеренно оптимистичный сценарий</vt:lpstr>
      <vt:lpstr>Оптимистичный сценарий</vt:lpstr>
      <vt:lpstr>Используемость дополнительных функциональных юнитов</vt:lpstr>
      <vt:lpstr>Используемость ALU</vt:lpstr>
      <vt:lpstr>Используемость BALU</vt:lpstr>
      <vt:lpstr>Используемость BMU</vt:lpstr>
      <vt:lpstr>Площадь (cell area, 100 MHz)</vt:lpstr>
      <vt:lpstr>Вопросы?</vt:lpstr>
      <vt:lpstr>Дополнительные слайды</vt:lpstr>
      <vt:lpstr>Параметры запусков Coremark и Dhrystone</vt:lpstr>
      <vt:lpstr>Ожидаемый рост производительности в процентах</vt:lpstr>
      <vt:lpstr>Пессимистичный сценарий</vt:lpstr>
      <vt:lpstr>Умеренно оптимистичный сценарий</vt:lpstr>
      <vt:lpstr>Оптимистичный сценарий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Результаты замеров прироста производительности при реализации суперскалярности</dc:title>
  <dc:creator>Yaroslav Leshukov</dc:creator>
  <cp:lastModifiedBy>Jaroslaw Lesukoff</cp:lastModifiedBy>
  <cp:revision>88</cp:revision>
  <dcterms:created xsi:type="dcterms:W3CDTF">2026-01-27T11:22:48Z</dcterms:created>
  <dcterms:modified xsi:type="dcterms:W3CDTF">2026-04-24T18:38:36Z</dcterms:modified>
</cp:coreProperties>
</file>