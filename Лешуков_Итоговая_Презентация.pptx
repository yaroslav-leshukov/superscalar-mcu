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1" r:id="rId12"/>
    <p:sldId id="272" r:id="rId13"/>
    <p:sldId id="265" r:id="rId14"/>
    <p:sldId id="266" r:id="rId15"/>
    <p:sldId id="267" r:id="rId16"/>
    <p:sldId id="268" r:id="rId17"/>
    <p:sldId id="274" r:id="rId18"/>
    <p:sldId id="275" r:id="rId19"/>
    <p:sldId id="276" r:id="rId20"/>
    <p:sldId id="273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9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60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87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79715-2467-A8B3-27F1-57544C4BF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14ECC-2D5D-B398-E7C2-7DD19037A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51D4F-830D-2E83-52BD-61FDECB25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FA785-1E09-AA8D-031C-8C1C6A11CA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967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15A62-42EA-E79A-1435-3AD85036D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E66EF-EC49-D8F8-3FA4-314BAD20E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BE2C8-296B-9C32-13BE-6F1F2A72B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76C05-AD1C-A8FF-E307-679024201B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350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93208-4AEF-BCD9-ACBE-017A30FD2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434E2-4E57-4905-3616-CB4F67D4C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144F8-1BF6-27DD-1763-5483A48C0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8CFB2-AB8D-7ED8-D500-12BB6A9FF5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499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44AB3DB7-ECB9-4547-05A3-9228D7DCA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40550" y="4792663"/>
            <a:ext cx="2057400" cy="274637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EC0B75B8-6323-6747-983D-2768CE46073B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D4E6B-11DB-6599-E4C8-6AA91363C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B9FF60-57FB-A5A8-93C8-3A105287C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560036-3007-902D-A36D-4EFF47148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68A007-6E94-BB3D-D757-68D62BA6A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B81942-E621-5F80-43F6-BEAD52DE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75B8-6323-6747-983D-2768CE46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525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148FB9-C2A0-1D50-3EBA-CF1DD9BC9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DA8C20-56B7-F7DB-B2E3-BCB22FAB6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0F8BE3-D6A9-115F-2690-78D5769B9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AB76F5-9179-142D-BD6B-CE63F0DF7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F61C9D-2F81-18DA-7D3B-78CDED177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75B8-6323-6747-983D-2768CE46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933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712EDB-158D-CEF9-A8D7-419FC29E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A73BBB-9218-0925-D94E-F9C911702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AEA90D-041E-21F9-B3EC-9244AB09E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78352F-4744-4626-434F-D70E51EE2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A0DCA9-BEDF-34EA-C144-1109A3C5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75B8-6323-6747-983D-2768CE46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916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353235-E544-B7CA-071F-EB1959491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E35433-63C2-975F-F5DA-0A5856635F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685F77-9450-61DC-9F8E-45EA401E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E98810-C996-B89E-19BB-4F0B4919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C51BAA-121E-2B0A-3DA1-ACB6F208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F7AE69-ABA8-B6FE-50DE-6457EDF40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75B8-6323-6747-983D-2768CE46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673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4CDA03-2DD4-90C2-4983-2735F67E4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BF9A9D-62FA-DCB9-EAD9-33495625C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FD0042-D436-1062-7C09-168217137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EE3D144-776C-6F36-C5DB-D2F9015F6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9F32F4E-AB8D-B02F-122F-A4A1DA4C2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F4950CA-C856-78B4-A192-02DD3FF3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50D35C-29DC-9755-C920-44A96E282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9077013-87C9-8D6D-5D9C-FCF50A62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75B8-6323-6747-983D-2768CE46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96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6EB12-6B15-53BE-3C2B-10133305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F3BACDB-D336-B4D5-66DB-01D35DE2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BCDA2C9-D394-7AB3-B67A-0F28C31A0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137A4C-159C-C114-F32C-E6BE2B4D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75B8-6323-6747-983D-2768CE46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181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28619A-06FD-B1BD-F551-C270AB3A5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84B4AB0-2BD0-268E-884E-E31E3B4CC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18C2DB-BD6D-E64C-3CAB-DD3C519C6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75B8-6323-6747-983D-2768CE46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796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34E45-E381-0626-3DF2-34868B2C8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D3C1FC-639C-9C8E-C3C9-F45925900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1C2B62-5EBC-3832-98A2-2CB0A3B77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EDBAA4-993C-FEE9-B0F8-0671E9AD8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A47DDD-C848-11F9-88A9-4A7971586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CCA178-74E7-1CBC-1AE2-57A5D0651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75B8-6323-6747-983D-2768CE46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690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E9EF1B-131B-C0D8-4EBF-6CD0830D9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D3163C8-4823-9AB9-2F4F-348382AD80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AFDFA9-9EC5-484D-2128-0B73F4580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A4D780-3440-29C9-21CE-E25F2CC16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C70C65-D525-9A9B-8E39-44DB82533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4AA703-1D93-A973-5ECE-C03286AD1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75B8-6323-6747-983D-2768CE46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396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343017-4739-B657-B0D8-8993EDDFF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D2065C-C544-D6B2-E73E-D88C55C7F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27EC8D-C5C0-5555-47D5-5FDF7395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BE38F3-3489-BFE0-E184-E45A4FB2F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1094FC-2790-3E2C-8722-867A2D362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75B8-6323-6747-983D-2768CE46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199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7723AE7-FD2C-AA20-F539-852C5C49B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AE70F7-2CCE-2F3C-6E4B-D7920FCFA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486964-143F-3C19-BE3D-30AA7BD08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996A48-0C01-35C3-7CA2-81723284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E1CA5C-8A61-02F2-58F8-0B1E9314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B75B8-6323-6747-983D-2768CE46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306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77ED156C-961F-0B5F-C2B2-11046C70D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40550" y="4792663"/>
            <a:ext cx="2057400" cy="274637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EC0B75B8-6323-6747-983D-2768CE46073B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7A279-BF26-CAD7-09E1-7164CF1DD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800315-31A2-ED48-EB55-D039082F8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3A5F27-7CF4-9BCD-5508-88BAC2ED3D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6A3369-809D-07AE-ABC3-3C36DA592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05B89C-8038-D881-271D-BB9A0C5C1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B75B8-6323-6747-983D-2768CE46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32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Микроархитектурные методы повышения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производительности микроконтроллерных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ядер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95868" y="4140283"/>
            <a:ext cx="252284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Лешуков Я.А. </a:t>
            </a:r>
            <a:endParaRPr lang="ru-RU" sz="1400" dirty="0">
              <a:solidFill>
                <a:srgbClr val="4444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ru-RU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гр.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4941104/50601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 и актуальность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3931920" cy="2112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оценки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прироста производительности при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внедрении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суперскалярности</a:t>
            </a:r>
            <a:r>
              <a:rPr lang="ru-RU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MCU </a:t>
            </a:r>
            <a:r>
              <a:rPr lang="ru-RU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процессорное ядро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 оптимальные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конфигурации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суперскаляр</a:t>
            </a:r>
            <a:r>
              <a:rPr lang="ru-RU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ности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0" cy="356616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54880" y="1353312"/>
            <a:ext cx="3931920" cy="1815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Экосистема RISC-V активно растёт, но MCU-ядра остаются скалярными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и MIPS уже применяют суперскалярность 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MCU-</a:t>
            </a:r>
            <a:r>
              <a:rPr lang="en-US" sz="16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сегменте</a:t>
            </a:r>
            <a:endParaRPr lang="en-US" sz="1600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BE97B5E-08C9-2909-8D34-D796C0E63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2</a:t>
            </a:fld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Научная новизна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1"/>
            <a:ext cx="8046720" cy="1910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700"/>
              </a:spcAft>
              <a:buSzPct val="100000"/>
            </a:pPr>
            <a:r>
              <a:rPr lang="ru-RU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Научная новизна проекта состоит в том, что в его рамках в</a:t>
            </a:r>
            <a:r>
              <a:rPr lang="en-US" sz="17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</a:t>
            </a: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предлагается </a:t>
            </a:r>
            <a:r>
              <a:rPr lang="en-US" sz="17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</a:t>
            </a: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оценки</a:t>
            </a: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прироста производительности суперскалярных RISC-V ядер, ориентированный </a:t>
            </a:r>
            <a:r>
              <a:rPr lang="en-US" sz="17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MCU-</a:t>
            </a:r>
            <a:r>
              <a:rPr lang="en-US" sz="17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</a:t>
            </a:r>
            <a:r>
              <a:rPr lang="ru-RU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Относительно </a:t>
            </a: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</a:t>
            </a:r>
            <a:r>
              <a:rPr lang="ru-RU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микроконтроллерных ядер в научной литературе аналогичные алгоритмы не представлены.</a:t>
            </a:r>
            <a:endParaRPr lang="en-US" sz="17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B58D9A-5A4E-B5EA-04FC-9850A23C9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3</a:t>
            </a:fld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</a:t>
            </a: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</a:t>
            </a:r>
            <a:r>
              <a:rPr lang="ru-RU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199" y="1188720"/>
            <a:ext cx="7958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Лешуков Ярослав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Александрович</a:t>
            </a:r>
            <a:r>
              <a:rPr lang="ru-RU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р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уководитель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проекта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199" y="1334011"/>
            <a:ext cx="6431196" cy="26207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spcAft>
                <a:spcPts val="800"/>
              </a:spcAft>
              <a:buSzPct val="100000"/>
            </a:pPr>
            <a:r>
              <a:rPr lang="ru-RU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ru-RU" dirty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отчётов</a:t>
            </a:r>
            <a:endParaRPr lang="en-US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Написание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RTL-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кода</a:t>
            </a:r>
            <a:endParaRPr lang="en-US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программной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</a:t>
            </a:r>
            <a:endParaRPr lang="en-US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Логический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синтез</a:t>
            </a:r>
            <a:endParaRPr lang="en-US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7F548C9-70A7-8EDD-2790-2BFA4A872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 управления проектом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контроля версий: GitHub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3931920" cy="2194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Крупнейшее мировое сообщество разработчиков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широкая экосистема интеграций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доступ для учебных проектов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Облачный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собственной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0" cy="356616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Инструмент: Git Bash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353312"/>
            <a:ext cx="3931920" cy="12184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доступ ко всем командам Git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автоматизации (bash-</a:t>
            </a:r>
            <a:r>
              <a:rPr lang="en-US" sz="13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скрипты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300" dirty="0"/>
              <a:t> </a:t>
            </a:r>
            <a:endParaRPr lang="ru-RU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требует дополнительного ПО</a:t>
            </a:r>
            <a:endParaRPr lang="en-US" sz="1300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1E15AC8A-E326-50AA-9D50-3208243A3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5</a:t>
            </a:fld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Календарный план работ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753334"/>
              </p:ext>
            </p:extLst>
          </p:nvPr>
        </p:nvGraphicFramePr>
        <p:xfrm>
          <a:off x="365760" y="960120"/>
          <a:ext cx="8412481" cy="2511552"/>
        </p:xfrm>
        <a:graphic>
          <a:graphicData uri="http://schemas.openxmlformats.org/drawingml/2006/table">
            <a:tbl>
              <a:tblPr/>
              <a:tblGrid>
                <a:gridCol w="331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3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402">
                  <a:extLst>
                    <a:ext uri="{9D8B030D-6E8A-4147-A177-3AD203B41FA5}">
                      <a16:colId xmlns:a16="http://schemas.microsoft.com/office/drawing/2014/main" val="3684812411"/>
                    </a:ext>
                  </a:extLst>
                </a:gridCol>
                <a:gridCol w="1070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2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Этап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Срок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Выполнено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Причина несоблюдения сроков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Теоретическая модель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20.02.2026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20.02.2026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RTL-</a:t>
                      </a:r>
                      <a:r>
                        <a:rPr lang="en-US" sz="1100" dirty="0" err="1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.04.2026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24.04.2026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Нет веской причины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Программная</a:t>
                      </a: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.04.2026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24.04.2026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Нет веской причины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Замеры производительности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ru-RU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.04.2026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24.04.2026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Нет веской причины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Синтез и оценка площади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30.04.2026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.04.2026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Оформление результатов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ru-RU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.05.2026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18.05.2026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Нет веской причины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AB95C8-947D-E022-51FA-C3D0615E8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6</a:t>
            </a:fld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 технического уровня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1611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CVA6 (ETH Zurich): скалярный, 6-стадийный 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</a:t>
            </a:r>
            <a:endParaRPr lang="ru-RU" sz="1500" dirty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 (Berkeley): 2-wide / 4-wide OoO, IPC 2.1 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SPEC</a:t>
            </a:r>
            <a:r>
              <a:rPr lang="ru-RU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ru-RU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выходит из класса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MCU</a:t>
            </a:r>
            <a:endParaRPr lang="ru-RU" sz="1500" dirty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MCU-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(SiFive E-series, PicoRV32, VexRiscv, NEORV32): все ядра скалярные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систематическая оценка суперскалярности для MCU-класса RISC-V не проработана</a:t>
            </a:r>
            <a:endParaRPr lang="en-US" sz="15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28F5E2-1D75-BD44-846E-27A2EC744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7</a:t>
            </a:fld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Тенденции развития объекта исследований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1893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от скалярных 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суперскалярным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конфигурациям как оптимальному компромиссу для MCU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интереса к аналитическим методам 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оценки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производительности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без 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полной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RTL-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реализации</a:t>
            </a:r>
            <a:endParaRPr lang="ru-RU" sz="1500" dirty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 начинают применять суперскалярные расширения — конкурентное давление на RISC-V</a:t>
            </a:r>
            <a:endParaRPr lang="en-US" sz="15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ADB2F5-DE17-4EF3-59F7-EEA2937BB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8</a:t>
            </a:fld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 </a:t>
            </a:r>
            <a:r>
              <a:rPr lang="en-US" sz="24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068305"/>
              </p:ext>
            </p:extLst>
          </p:nvPr>
        </p:nvGraphicFramePr>
        <p:xfrm>
          <a:off x="365760" y="914400"/>
          <a:ext cx="8412480" cy="2164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Патент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Описание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EP0638183A1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Отмена инструкций в суперскалярном микропроцессоре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Аналог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CN114780149B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Планирование зависимостей для OoO-суперскалярного процессора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Аналог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JP2004171248A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Реализация процессора с разделением потока управления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Аналог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US5764943A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Схема данных для ядра с несколькими конвейерами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</a:t>
                      </a:r>
                      <a:r>
                        <a:rPr lang="en-US" sz="1100" dirty="0" err="1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налог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US6092184A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Параллельная обработка конвейерных инструкций с регистровыми зависимостями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Прототип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7407F7-009D-513A-E387-1777CF1A1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9</a:t>
            </a:fld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Конференции по теме проекта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33097"/>
              </p:ext>
            </p:extLst>
          </p:nvPr>
        </p:nvGraphicFramePr>
        <p:xfrm>
          <a:off x="365760" y="960120"/>
          <a:ext cx="8412480" cy="34747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Конференция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Индексация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ISCAS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Международная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Scopus, WoS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ICCD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Международная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Scopus, WoS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Международная (Европа)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Scopus, WoS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IEEE/ACM MICRO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Международная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Scopus, WoS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ISCA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Международная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Scopus, WoS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RISC-V Summit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Международная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 (изб.), IEEE Xplore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ITNT (Самара)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Международная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ПаВТ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Всероссийская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РИНЦ, ВАК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NorCAS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Международная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Scopus, IEEE Xplore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BB6810B-71F4-82E2-7350-31BDCAB35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Конкурсы и гранты по теме проекта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750404"/>
              </p:ext>
            </p:extLst>
          </p:nvPr>
        </p:nvGraphicFramePr>
        <p:xfrm>
          <a:off x="365760" y="960120"/>
          <a:ext cx="8412480" cy="243230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Программа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Размер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Студенческий стартап (FASIE)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Индивидуальная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1 000 000 руб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УМНИК (Фонд содействия инновациям)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Индивидуальная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500 000 руб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Стипендии им. Ж.И. Алфёрова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Индивидуальная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 руб/мес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SSCS Predoctoral Achievement Award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Индивидуальная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$2 000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РНФ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Групповая (4–10 чел.)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4–7 млн руб/год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Конкурс «Интеллект» (СПбПУ)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Индивидуальная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150 000 руб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E7C4E7-9185-7A3A-9233-F139D4721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11</a:t>
            </a:fld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Научная составляющая: модель расчёта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1878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зависимостей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между инструкциями в RTL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данных 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зависимостях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используемых функциональных юнитах 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генерации трассы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неправильных предсказаний ветвлений 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модуле генерации трассы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возможного повышения производительности 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основе</a:t>
            </a:r>
            <a:r>
              <a:rPr lang="ru-RU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трассы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сценария: 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пессимистичный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умеренно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оптимистичный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оптимистичный</a:t>
            </a:r>
            <a:endParaRPr lang="en-US" sz="15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67C331-3B7C-C91B-669D-F76E7F7EB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12</a:t>
            </a:fld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r>
              <a:rPr lang="en-US" sz="24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ессимистичный</a:t>
            </a: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сценарий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9E3164CE-A54D-BD96-0A3E-00648C0A2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755"/>
              </p:ext>
            </p:extLst>
          </p:nvPr>
        </p:nvGraphicFramePr>
        <p:xfrm>
          <a:off x="241058" y="1208446"/>
          <a:ext cx="8155128" cy="2341584"/>
        </p:xfrm>
        <a:graphic>
          <a:graphicData uri="http://schemas.openxmlformats.org/drawingml/2006/table">
            <a:tbl>
              <a:tblPr/>
              <a:tblGrid>
                <a:gridCol w="590952">
                  <a:extLst>
                    <a:ext uri="{9D8B030D-6E8A-4147-A177-3AD203B41FA5}">
                      <a16:colId xmlns:a16="http://schemas.microsoft.com/office/drawing/2014/main" val="1513577796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1193013737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3231038275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1136709816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1811348915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463269721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363063508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2072031391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4218021550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3833990095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3479572439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1232457530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3013754158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2858249796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2413956714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3340493224"/>
                    </a:ext>
                  </a:extLst>
                </a:gridCol>
                <a:gridCol w="472761">
                  <a:extLst>
                    <a:ext uri="{9D8B030D-6E8A-4147-A177-3AD203B41FA5}">
                      <a16:colId xmlns:a16="http://schemas.microsoft.com/office/drawing/2014/main" val="1517584988"/>
                    </a:ext>
                  </a:extLst>
                </a:gridCol>
              </a:tblGrid>
              <a:tr h="2926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Прирост за счёт одновременной фиксации окончания исполнения инструкций в процентах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34766"/>
                  </a:ext>
                </a:extLst>
              </a:tr>
              <a:tr h="2926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402169"/>
                  </a:ext>
                </a:extLst>
              </a:tr>
              <a:tr h="2926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241848"/>
                  </a:ext>
                </a:extLst>
              </a:tr>
              <a:tr h="2926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887017"/>
                  </a:ext>
                </a:extLst>
              </a:tr>
              <a:tr h="2926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521193"/>
                  </a:ext>
                </a:extLst>
              </a:tr>
              <a:tr h="2926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07241"/>
                  </a:ext>
                </a:extLst>
              </a:tr>
              <a:tr h="2926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326691"/>
                  </a:ext>
                </a:extLst>
              </a:tr>
              <a:tr h="2926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ru-RU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676404"/>
                  </a:ext>
                </a:extLst>
              </a:tr>
            </a:tbl>
          </a:graphicData>
        </a:graphic>
      </p:graphicFrame>
      <p:graphicFrame>
        <p:nvGraphicFramePr>
          <p:cNvPr id="20" name="Таблица 3">
            <a:extLst>
              <a:ext uri="{FF2B5EF4-FFF2-40B4-BE49-F238E27FC236}">
                <a16:creationId xmlns:a16="http://schemas.microsoft.com/office/drawing/2014/main" id="{E153DBBC-09D1-161A-C5E0-300F848C9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571261"/>
              </p:ext>
            </p:extLst>
          </p:nvPr>
        </p:nvGraphicFramePr>
        <p:xfrm>
          <a:off x="4813399" y="3761549"/>
          <a:ext cx="362648" cy="365760"/>
        </p:xfrm>
        <a:graphic>
          <a:graphicData uri="http://schemas.openxmlformats.org/drawingml/2006/table">
            <a:tbl>
              <a:tblPr firstRow="1" bandRow="1"/>
              <a:tblGrid>
                <a:gridCol w="362648">
                  <a:extLst>
                    <a:ext uri="{9D8B030D-6E8A-4147-A177-3AD203B41FA5}">
                      <a16:colId xmlns:a16="http://schemas.microsoft.com/office/drawing/2014/main" val="185892296"/>
                    </a:ext>
                  </a:extLst>
                </a:gridCol>
              </a:tblGrid>
              <a:tr h="2875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241987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F0D6C05-9AF0-7F7D-B038-FC3C0C4926F5}"/>
              </a:ext>
            </a:extLst>
          </p:cNvPr>
          <p:cNvSpPr txBox="1"/>
          <p:nvPr/>
        </p:nvSpPr>
        <p:spPr>
          <a:xfrm>
            <a:off x="5256675" y="3761549"/>
            <a:ext cx="4306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– наибольший показатель среди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hiperf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/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hifreq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59E073-54E5-D22F-59F4-0B38C4DD83A2}"/>
              </a:ext>
            </a:extLst>
          </p:cNvPr>
          <p:cNvSpPr txBox="1"/>
          <p:nvPr/>
        </p:nvSpPr>
        <p:spPr>
          <a:xfrm>
            <a:off x="107269" y="3761549"/>
            <a:ext cx="4636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1_fu’s –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прирост без дублирования функциональных юнитов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EBE150-89CD-7CAD-DCC9-5B1C036DF506}"/>
              </a:ext>
            </a:extLst>
          </p:cNvPr>
          <p:cNvSpPr txBox="1"/>
          <p:nvPr/>
        </p:nvSpPr>
        <p:spPr>
          <a:xfrm>
            <a:off x="107269" y="4338828"/>
            <a:ext cx="49024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x_fu’s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–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количество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BALU/ALU/BMU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равно количеству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way’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ев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</a:p>
        </p:txBody>
      </p:sp>
      <p:sp>
        <p:nvSpPr>
          <p:cNvPr id="24" name="Номер слайда 5">
            <a:extLst>
              <a:ext uri="{FF2B5EF4-FFF2-40B4-BE49-F238E27FC236}">
                <a16:creationId xmlns:a16="http://schemas.microsoft.com/office/drawing/2014/main" id="{F762D74C-6859-EACF-50C5-06A3888BDF8D}"/>
              </a:ext>
            </a:extLst>
          </p:cNvPr>
          <p:cNvSpPr txBox="1">
            <a:spLocks/>
          </p:cNvSpPr>
          <p:nvPr/>
        </p:nvSpPr>
        <p:spPr>
          <a:xfrm>
            <a:off x="6940550" y="4792663"/>
            <a:ext cx="2057400" cy="274637"/>
          </a:xfrm>
          <a:prstGeom prst="rect">
            <a:avLst/>
          </a:prstGeom>
        </p:spPr>
        <p:txBody>
          <a:bodyPr/>
          <a:lstStyle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C0B75B8-6323-6747-983D-2768CE46073B}" type="slidenum">
              <a:rPr lang="ru-RU" smtClean="0"/>
              <a:pPr/>
              <a:t>13</a:t>
            </a:fld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</a:t>
            </a:r>
            <a:r>
              <a:rPr lang="en-US" sz="24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меренно</a:t>
            </a: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оптимистичный сценарий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9042D8-91F8-DA4D-1852-8482B73CC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14</a:t>
            </a:fld>
            <a:endParaRPr lang="ru-RU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8C13F64A-B768-A88B-8B4E-A03EA8851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066518"/>
              </p:ext>
            </p:extLst>
          </p:nvPr>
        </p:nvGraphicFramePr>
        <p:xfrm>
          <a:off x="297711" y="1293666"/>
          <a:ext cx="8700244" cy="2218280"/>
        </p:xfrm>
        <a:graphic>
          <a:graphicData uri="http://schemas.openxmlformats.org/drawingml/2006/table">
            <a:tbl>
              <a:tblPr/>
              <a:tblGrid>
                <a:gridCol w="630452">
                  <a:extLst>
                    <a:ext uri="{9D8B030D-6E8A-4147-A177-3AD203B41FA5}">
                      <a16:colId xmlns:a16="http://schemas.microsoft.com/office/drawing/2014/main" val="741221164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2496072561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3330366008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1144453632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3981494924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2930974683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950907835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3949032100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3316213339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2319771132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3324833343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2954051876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1063960239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2448257057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2096498157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3630287253"/>
                    </a:ext>
                  </a:extLst>
                </a:gridCol>
                <a:gridCol w="504362">
                  <a:extLst>
                    <a:ext uri="{9D8B030D-6E8A-4147-A177-3AD203B41FA5}">
                      <a16:colId xmlns:a16="http://schemas.microsoft.com/office/drawing/2014/main" val="2027778145"/>
                    </a:ext>
                  </a:extLst>
                </a:gridCol>
              </a:tblGrid>
              <a:tr h="277285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Прирост за счёт одновременной выдачи инструкций в процентах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531273"/>
                  </a:ext>
                </a:extLst>
              </a:tr>
              <a:tr h="277285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157785"/>
                  </a:ext>
                </a:extLst>
              </a:tr>
              <a:tr h="277285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678296"/>
                  </a:ext>
                </a:extLst>
              </a:tr>
              <a:tr h="277285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631279"/>
                  </a:ext>
                </a:extLst>
              </a:tr>
              <a:tr h="277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740314"/>
                  </a:ext>
                </a:extLst>
              </a:tr>
              <a:tr h="27728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32,61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791663"/>
                  </a:ext>
                </a:extLst>
              </a:tr>
              <a:tr h="27728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39,15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37,48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020723"/>
                  </a:ext>
                </a:extLst>
              </a:tr>
              <a:tr h="27728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32,15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358133"/>
                  </a:ext>
                </a:extLst>
              </a:tr>
            </a:tbl>
          </a:graphicData>
        </a:graphic>
      </p:graphicFrame>
      <p:graphicFrame>
        <p:nvGraphicFramePr>
          <p:cNvPr id="15" name="Таблица 3">
            <a:extLst>
              <a:ext uri="{FF2B5EF4-FFF2-40B4-BE49-F238E27FC236}">
                <a16:creationId xmlns:a16="http://schemas.microsoft.com/office/drawing/2014/main" id="{086ACC1E-B466-B547-3723-D48C13A03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82850"/>
              </p:ext>
            </p:extLst>
          </p:nvPr>
        </p:nvGraphicFramePr>
        <p:xfrm>
          <a:off x="4813399" y="3761549"/>
          <a:ext cx="362648" cy="365760"/>
        </p:xfrm>
        <a:graphic>
          <a:graphicData uri="http://schemas.openxmlformats.org/drawingml/2006/table">
            <a:tbl>
              <a:tblPr firstRow="1" bandRow="1"/>
              <a:tblGrid>
                <a:gridCol w="362648">
                  <a:extLst>
                    <a:ext uri="{9D8B030D-6E8A-4147-A177-3AD203B41FA5}">
                      <a16:colId xmlns:a16="http://schemas.microsoft.com/office/drawing/2014/main" val="185892296"/>
                    </a:ext>
                  </a:extLst>
                </a:gridCol>
              </a:tblGrid>
              <a:tr h="2875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24198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4920843-1344-8B33-9D75-146006978420}"/>
              </a:ext>
            </a:extLst>
          </p:cNvPr>
          <p:cNvSpPr txBox="1"/>
          <p:nvPr/>
        </p:nvSpPr>
        <p:spPr>
          <a:xfrm>
            <a:off x="5256675" y="3761549"/>
            <a:ext cx="4306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– наибольший показатель среди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hiperf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/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hifreq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904F32-02D3-3E65-CC46-E31DE8B9C75C}"/>
              </a:ext>
            </a:extLst>
          </p:cNvPr>
          <p:cNvSpPr txBox="1"/>
          <p:nvPr/>
        </p:nvSpPr>
        <p:spPr>
          <a:xfrm>
            <a:off x="107269" y="3761549"/>
            <a:ext cx="4636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1_fu’s –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прирост без дублирования функциональных юнитов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965709-1867-8805-56BE-CE86C5ED754E}"/>
              </a:ext>
            </a:extLst>
          </p:cNvPr>
          <p:cNvSpPr txBox="1"/>
          <p:nvPr/>
        </p:nvSpPr>
        <p:spPr>
          <a:xfrm>
            <a:off x="107269" y="4338828"/>
            <a:ext cx="49024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x_fu’s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–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количество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BALU/ALU/BMU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равно количеству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way’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ев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производительности: оптимистичный сценарий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1A635F-962D-E174-9BDD-1616A0F56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15</a:t>
            </a:fld>
            <a:endParaRPr lang="ru-RU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7D58263-374E-9A93-EF15-5D7BD4769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438245"/>
              </p:ext>
            </p:extLst>
          </p:nvPr>
        </p:nvGraphicFramePr>
        <p:xfrm>
          <a:off x="365760" y="1335019"/>
          <a:ext cx="8229890" cy="2633480"/>
        </p:xfrm>
        <a:graphic>
          <a:graphicData uri="http://schemas.openxmlformats.org/drawingml/2006/table">
            <a:tbl>
              <a:tblPr/>
              <a:tblGrid>
                <a:gridCol w="596370">
                  <a:extLst>
                    <a:ext uri="{9D8B030D-6E8A-4147-A177-3AD203B41FA5}">
                      <a16:colId xmlns:a16="http://schemas.microsoft.com/office/drawing/2014/main" val="289746256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2526974512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3483590289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4204702268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756170351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5792945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384483417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166081462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3392130948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933612713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2797951853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3569678597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2309627479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1475999397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332175919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3594938069"/>
                    </a:ext>
                  </a:extLst>
                </a:gridCol>
                <a:gridCol w="477095">
                  <a:extLst>
                    <a:ext uri="{9D8B030D-6E8A-4147-A177-3AD203B41FA5}">
                      <a16:colId xmlns:a16="http://schemas.microsoft.com/office/drawing/2014/main" val="2412890874"/>
                    </a:ext>
                  </a:extLst>
                </a:gridCol>
              </a:tblGrid>
              <a:tr h="329185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Общий прирост в процентах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241274"/>
                  </a:ext>
                </a:extLst>
              </a:tr>
              <a:tr h="329185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789833"/>
                  </a:ext>
                </a:extLst>
              </a:tr>
              <a:tr h="329185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62477"/>
                  </a:ext>
                </a:extLst>
              </a:tr>
              <a:tr h="329185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279063"/>
                  </a:ext>
                </a:extLst>
              </a:tr>
              <a:tr h="3291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40959"/>
                  </a:ext>
                </a:extLst>
              </a:tr>
              <a:tr h="32918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46,01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12,63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36,57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986980"/>
                  </a:ext>
                </a:extLst>
              </a:tr>
              <a:tr h="32918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58,98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61,73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50482"/>
                  </a:ext>
                </a:extLst>
              </a:tr>
              <a:tr h="32918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58,68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60,98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49,64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841681"/>
                  </a:ext>
                </a:extLst>
              </a:tr>
            </a:tbl>
          </a:graphicData>
        </a:graphic>
      </p:graphicFrame>
      <p:graphicFrame>
        <p:nvGraphicFramePr>
          <p:cNvPr id="9" name="Таблица 3">
            <a:extLst>
              <a:ext uri="{FF2B5EF4-FFF2-40B4-BE49-F238E27FC236}">
                <a16:creationId xmlns:a16="http://schemas.microsoft.com/office/drawing/2014/main" id="{7E3F832E-8F8E-758A-B778-495A600D4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746760"/>
              </p:ext>
            </p:extLst>
          </p:nvPr>
        </p:nvGraphicFramePr>
        <p:xfrm>
          <a:off x="4852180" y="4077218"/>
          <a:ext cx="362648" cy="365760"/>
        </p:xfrm>
        <a:graphic>
          <a:graphicData uri="http://schemas.openxmlformats.org/drawingml/2006/table">
            <a:tbl>
              <a:tblPr firstRow="1" bandRow="1"/>
              <a:tblGrid>
                <a:gridCol w="362648">
                  <a:extLst>
                    <a:ext uri="{9D8B030D-6E8A-4147-A177-3AD203B41FA5}">
                      <a16:colId xmlns:a16="http://schemas.microsoft.com/office/drawing/2014/main" val="185892296"/>
                    </a:ext>
                  </a:extLst>
                </a:gridCol>
              </a:tblGrid>
              <a:tr h="2875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ru-RU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24198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55C7DEC-3994-3D75-C65A-6110BE9CE71C}"/>
              </a:ext>
            </a:extLst>
          </p:cNvPr>
          <p:cNvSpPr txBox="1"/>
          <p:nvPr/>
        </p:nvSpPr>
        <p:spPr>
          <a:xfrm>
            <a:off x="5295456" y="4077218"/>
            <a:ext cx="4306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– наибольший показатель среди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hiperf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/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hifreq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23AE0B-0FF1-8572-1C62-E39969B8A8AE}"/>
              </a:ext>
            </a:extLst>
          </p:cNvPr>
          <p:cNvSpPr txBox="1"/>
          <p:nvPr/>
        </p:nvSpPr>
        <p:spPr>
          <a:xfrm>
            <a:off x="146050" y="4077218"/>
            <a:ext cx="4636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1_fu’s –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прирост без дублирования функциональных юнитов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0279C1-5FA2-34F9-D11C-1DA4D3E567E1}"/>
              </a:ext>
            </a:extLst>
          </p:cNvPr>
          <p:cNvSpPr txBox="1"/>
          <p:nvPr/>
        </p:nvSpPr>
        <p:spPr>
          <a:xfrm>
            <a:off x="146050" y="4654497"/>
            <a:ext cx="49024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x_fu’s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–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количество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BALU/ALU/BMU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равно количеству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way’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ев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E4258-E69D-8398-DC95-73E237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0C3124-DA15-81BD-595C-91C710066C7C}"/>
              </a:ext>
            </a:extLst>
          </p:cNvPr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Используемость ALU, %</a:t>
            </a:r>
            <a:endParaRPr lang="en-US" sz="240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7FBAEC-4169-EC2A-7036-95EFCA1AC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16</a:t>
            </a:fld>
            <a:endParaRPr lang="ru-RU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C653FDC3-35F8-BACA-188F-297FE623FC40}"/>
              </a:ext>
            </a:extLst>
          </p:cNvPr>
          <p:cNvGraphicFramePr>
            <a:graphicFrameLocks noGrp="1"/>
          </p:cNvGraphicFramePr>
          <p:nvPr/>
        </p:nvGraphicFramePr>
        <p:xfrm>
          <a:off x="623137" y="724047"/>
          <a:ext cx="7410029" cy="1325562"/>
        </p:xfrm>
        <a:graphic>
          <a:graphicData uri="http://schemas.openxmlformats.org/drawingml/2006/table">
            <a:tbl>
              <a:tblPr/>
              <a:tblGrid>
                <a:gridCol w="1170005">
                  <a:extLst>
                    <a:ext uri="{9D8B030D-6E8A-4147-A177-3AD203B41FA5}">
                      <a16:colId xmlns:a16="http://schemas.microsoft.com/office/drawing/2014/main" val="3380815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261482774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395190485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670056489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81442409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167720744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71412208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243911144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731742404"/>
                    </a:ext>
                  </a:extLst>
                </a:gridCol>
              </a:tblGrid>
              <a:tr h="220927"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используемости </a:t>
                      </a:r>
                      <a:r>
                        <a:rPr lang="en-US" sz="1200" dirty="0"/>
                        <a:t>ALU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двумя </a:t>
                      </a:r>
                      <a:r>
                        <a:rPr lang="ru-RU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way'ями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925183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9425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pPr algn="ctr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028961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№FU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446984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522981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87675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2A34E74-4418-5B09-8D0D-4381AF6F6579}"/>
              </a:ext>
            </a:extLst>
          </p:cNvPr>
          <p:cNvGraphicFramePr>
            <a:graphicFrameLocks noGrp="1"/>
          </p:cNvGraphicFramePr>
          <p:nvPr/>
        </p:nvGraphicFramePr>
        <p:xfrm>
          <a:off x="623138" y="2117599"/>
          <a:ext cx="7410029" cy="1325562"/>
        </p:xfrm>
        <a:graphic>
          <a:graphicData uri="http://schemas.openxmlformats.org/drawingml/2006/table">
            <a:tbl>
              <a:tblPr/>
              <a:tblGrid>
                <a:gridCol w="1170005">
                  <a:extLst>
                    <a:ext uri="{9D8B030D-6E8A-4147-A177-3AD203B41FA5}">
                      <a16:colId xmlns:a16="http://schemas.microsoft.com/office/drawing/2014/main" val="1927094732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658484980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270281034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17902119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956685376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06454386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356018506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997101262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409192611"/>
                    </a:ext>
                  </a:extLst>
                </a:gridCol>
              </a:tblGrid>
              <a:tr h="189366"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используемости </a:t>
                      </a:r>
                      <a:r>
                        <a:rPr lang="en-US" sz="1200" dirty="0"/>
                        <a:t>ALU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тремя </a:t>
                      </a:r>
                      <a:r>
                        <a:rPr lang="ru-RU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way'ями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727022"/>
                  </a:ext>
                </a:extLst>
              </a:tr>
              <a:tr h="189366"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640960"/>
                  </a:ext>
                </a:extLst>
              </a:tr>
              <a:tr h="189366">
                <a:tc>
                  <a:txBody>
                    <a:bodyPr/>
                    <a:lstStyle/>
                    <a:p>
                      <a:pPr algn="ctr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379094"/>
                  </a:ext>
                </a:extLst>
              </a:tr>
              <a:tr h="1893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№FU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213939"/>
                  </a:ext>
                </a:extLst>
              </a:tr>
              <a:tr h="18936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71,6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71,6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458955"/>
                  </a:ext>
                </a:extLst>
              </a:tr>
              <a:tr h="18936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048776"/>
                  </a:ext>
                </a:extLst>
              </a:tr>
              <a:tr h="18936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071480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2C7929AB-E689-A887-6153-C5217EDACBC4}"/>
              </a:ext>
            </a:extLst>
          </p:cNvPr>
          <p:cNvGraphicFramePr>
            <a:graphicFrameLocks noGrp="1"/>
          </p:cNvGraphicFramePr>
          <p:nvPr/>
        </p:nvGraphicFramePr>
        <p:xfrm>
          <a:off x="623139" y="3511150"/>
          <a:ext cx="7410028" cy="1521248"/>
        </p:xfrm>
        <a:graphic>
          <a:graphicData uri="http://schemas.openxmlformats.org/drawingml/2006/table">
            <a:tbl>
              <a:tblPr/>
              <a:tblGrid>
                <a:gridCol w="1170004">
                  <a:extLst>
                    <a:ext uri="{9D8B030D-6E8A-4147-A177-3AD203B41FA5}">
                      <a16:colId xmlns:a16="http://schemas.microsoft.com/office/drawing/2014/main" val="197617433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382848606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135413438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128321933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873697844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183258900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76563291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764135598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883538389"/>
                    </a:ext>
                  </a:extLst>
                </a:gridCol>
              </a:tblGrid>
              <a:tr h="190156"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используемости </a:t>
                      </a:r>
                      <a:r>
                        <a:rPr lang="en-US" sz="1200" dirty="0"/>
                        <a:t>ALU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четырьмя </a:t>
                      </a:r>
                      <a:r>
                        <a:rPr lang="ru-RU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way'ями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962685"/>
                  </a:ext>
                </a:extLst>
              </a:tr>
              <a:tr h="190156"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881418"/>
                  </a:ext>
                </a:extLst>
              </a:tr>
              <a:tr h="190156">
                <a:tc>
                  <a:txBody>
                    <a:bodyPr/>
                    <a:lstStyle/>
                    <a:p>
                      <a:pPr algn="ctr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273832"/>
                  </a:ext>
                </a:extLst>
              </a:tr>
              <a:tr h="1901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№FU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556657"/>
                  </a:ext>
                </a:extLst>
              </a:tr>
              <a:tr h="19015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565148"/>
                  </a:ext>
                </a:extLst>
              </a:tr>
              <a:tr h="19015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982535"/>
                  </a:ext>
                </a:extLst>
              </a:tr>
              <a:tr h="190156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70087"/>
                  </a:ext>
                </a:extLst>
              </a:tr>
              <a:tr h="19015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334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039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49DFE-674D-C5B8-5A0F-8CC678179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F78C35-8C44-F312-D942-20FE2111C114}"/>
              </a:ext>
            </a:extLst>
          </p:cNvPr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Используемость</a:t>
            </a: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BALU, %</a:t>
            </a:r>
            <a:endParaRPr lang="en-US" sz="240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CB5A78-0012-654F-E89B-CDCE23073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17</a:t>
            </a:fld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0CA0949-AA02-6275-6944-1C9BA8BF2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755001"/>
              </p:ext>
            </p:extLst>
          </p:nvPr>
        </p:nvGraphicFramePr>
        <p:xfrm>
          <a:off x="597048" y="768096"/>
          <a:ext cx="7410029" cy="1172688"/>
        </p:xfrm>
        <a:graphic>
          <a:graphicData uri="http://schemas.openxmlformats.org/drawingml/2006/table">
            <a:tbl>
              <a:tblPr/>
              <a:tblGrid>
                <a:gridCol w="1170005">
                  <a:extLst>
                    <a:ext uri="{9D8B030D-6E8A-4147-A177-3AD203B41FA5}">
                      <a16:colId xmlns:a16="http://schemas.microsoft.com/office/drawing/2014/main" val="254408458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993074456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026621706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38672950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556486189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345939791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648987503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003142461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502196791"/>
                    </a:ext>
                  </a:extLst>
                </a:gridCol>
              </a:tblGrid>
              <a:tr h="195448"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используемости </a:t>
                      </a:r>
                      <a:r>
                        <a:rPr lang="en-US" sz="1200" dirty="0"/>
                        <a:t>BALU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двумя </a:t>
                      </a:r>
                      <a:r>
                        <a:rPr lang="ru-RU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way'ями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925397"/>
                  </a:ext>
                </a:extLst>
              </a:tr>
              <a:tr h="195448"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862368"/>
                  </a:ext>
                </a:extLst>
              </a:tr>
              <a:tr h="195448">
                <a:tc>
                  <a:txBody>
                    <a:bodyPr/>
                    <a:lstStyle/>
                    <a:p>
                      <a:pPr algn="ctr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326647"/>
                  </a:ext>
                </a:extLst>
              </a:tr>
              <a:tr h="1954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№FU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139616"/>
                  </a:ext>
                </a:extLst>
              </a:tr>
              <a:tr h="19544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587113"/>
                  </a:ext>
                </a:extLst>
              </a:tr>
              <a:tr h="19544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818989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97F9C2A-C8AC-9569-A023-C9B17698C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634302"/>
              </p:ext>
            </p:extLst>
          </p:nvPr>
        </p:nvGraphicFramePr>
        <p:xfrm>
          <a:off x="597049" y="2042491"/>
          <a:ext cx="7410029" cy="1406790"/>
        </p:xfrm>
        <a:graphic>
          <a:graphicData uri="http://schemas.openxmlformats.org/drawingml/2006/table">
            <a:tbl>
              <a:tblPr/>
              <a:tblGrid>
                <a:gridCol w="1170005">
                  <a:extLst>
                    <a:ext uri="{9D8B030D-6E8A-4147-A177-3AD203B41FA5}">
                      <a16:colId xmlns:a16="http://schemas.microsoft.com/office/drawing/2014/main" val="3421374428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547650800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409087333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126583581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709754949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037386915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183997021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775694968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026056899"/>
                    </a:ext>
                  </a:extLst>
                </a:gridCol>
              </a:tblGrid>
              <a:tr h="200970"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используемости </a:t>
                      </a:r>
                      <a:r>
                        <a:rPr lang="en-US" sz="1200" dirty="0"/>
                        <a:t>BALU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тремя </a:t>
                      </a:r>
                      <a:r>
                        <a:rPr lang="ru-RU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way'ями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128366"/>
                  </a:ext>
                </a:extLst>
              </a:tr>
              <a:tr h="200970"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309340"/>
                  </a:ext>
                </a:extLst>
              </a:tr>
              <a:tr h="200970">
                <a:tc>
                  <a:txBody>
                    <a:bodyPr/>
                    <a:lstStyle/>
                    <a:p>
                      <a:pPr algn="ctr" fontAlgn="b"/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670972"/>
                  </a:ext>
                </a:extLst>
              </a:tr>
              <a:tr h="2009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№FU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205318"/>
                  </a:ext>
                </a:extLst>
              </a:tr>
              <a:tr h="20097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79,6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79,6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707773"/>
                  </a:ext>
                </a:extLst>
              </a:tr>
              <a:tr h="20097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864753"/>
                  </a:ext>
                </a:extLst>
              </a:tr>
              <a:tr h="20097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243314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5A101CD-DE55-8CB1-52AD-317C42DD7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01036"/>
              </p:ext>
            </p:extLst>
          </p:nvPr>
        </p:nvGraphicFramePr>
        <p:xfrm>
          <a:off x="597049" y="3518268"/>
          <a:ext cx="7410029" cy="1549032"/>
        </p:xfrm>
        <a:graphic>
          <a:graphicData uri="http://schemas.openxmlformats.org/drawingml/2006/table">
            <a:tbl>
              <a:tblPr/>
              <a:tblGrid>
                <a:gridCol w="1170005">
                  <a:extLst>
                    <a:ext uri="{9D8B030D-6E8A-4147-A177-3AD203B41FA5}">
                      <a16:colId xmlns:a16="http://schemas.microsoft.com/office/drawing/2014/main" val="1194848826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13546075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180211544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104564334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772785909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731274905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186300061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718966435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829019911"/>
                    </a:ext>
                  </a:extLst>
                </a:gridCol>
              </a:tblGrid>
              <a:tr h="193629"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используемости </a:t>
                      </a:r>
                      <a:r>
                        <a:rPr lang="en-US" sz="1200" dirty="0"/>
                        <a:t>BALU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четырьмя </a:t>
                      </a:r>
                      <a:r>
                        <a:rPr lang="ru-RU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way'ями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710607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653338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b"/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497693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№FU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034520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107999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419047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870197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870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363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EE44C-DB38-68A3-07C8-4455B452D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F3EB68-1ACB-43FE-4005-E813BCE6752D}"/>
              </a:ext>
            </a:extLst>
          </p:cNvPr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Площадь (</a:t>
            </a: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area, 100 MHz</a:t>
            </a:r>
            <a:r>
              <a:rPr lang="ru-RU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40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641674-E5FA-9B4D-8E01-B12B8464A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C0B75B8-6323-6747-983D-2768CE46073B}" type="slidenum">
              <a:rPr lang="ru-RU" smtClean="0"/>
              <a:pPr algn="r"/>
              <a:t>18</a:t>
            </a:fld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EC0F8BAC-42F4-EB1A-CE9B-EBC8A72BD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182995"/>
              </p:ext>
            </p:extLst>
          </p:nvPr>
        </p:nvGraphicFramePr>
        <p:xfrm>
          <a:off x="833769" y="1416056"/>
          <a:ext cx="7476462" cy="2311387"/>
        </p:xfrm>
        <a:graphic>
          <a:graphicData uri="http://schemas.openxmlformats.org/drawingml/2006/table">
            <a:tbl>
              <a:tblPr/>
              <a:tblGrid>
                <a:gridCol w="265814">
                  <a:extLst>
                    <a:ext uri="{9D8B030D-6E8A-4147-A177-3AD203B41FA5}">
                      <a16:colId xmlns:a16="http://schemas.microsoft.com/office/drawing/2014/main" val="1023339747"/>
                    </a:ext>
                  </a:extLst>
                </a:gridCol>
                <a:gridCol w="594142">
                  <a:extLst>
                    <a:ext uri="{9D8B030D-6E8A-4147-A177-3AD203B41FA5}">
                      <a16:colId xmlns:a16="http://schemas.microsoft.com/office/drawing/2014/main" val="2876054327"/>
                    </a:ext>
                  </a:extLst>
                </a:gridCol>
                <a:gridCol w="557621">
                  <a:extLst>
                    <a:ext uri="{9D8B030D-6E8A-4147-A177-3AD203B41FA5}">
                      <a16:colId xmlns:a16="http://schemas.microsoft.com/office/drawing/2014/main" val="3044455892"/>
                    </a:ext>
                  </a:extLst>
                </a:gridCol>
                <a:gridCol w="557621">
                  <a:extLst>
                    <a:ext uri="{9D8B030D-6E8A-4147-A177-3AD203B41FA5}">
                      <a16:colId xmlns:a16="http://schemas.microsoft.com/office/drawing/2014/main" val="1318659303"/>
                    </a:ext>
                  </a:extLst>
                </a:gridCol>
                <a:gridCol w="557621">
                  <a:extLst>
                    <a:ext uri="{9D8B030D-6E8A-4147-A177-3AD203B41FA5}">
                      <a16:colId xmlns:a16="http://schemas.microsoft.com/office/drawing/2014/main" val="305480589"/>
                    </a:ext>
                  </a:extLst>
                </a:gridCol>
                <a:gridCol w="557621">
                  <a:extLst>
                    <a:ext uri="{9D8B030D-6E8A-4147-A177-3AD203B41FA5}">
                      <a16:colId xmlns:a16="http://schemas.microsoft.com/office/drawing/2014/main" val="4118800671"/>
                    </a:ext>
                  </a:extLst>
                </a:gridCol>
                <a:gridCol w="600514">
                  <a:extLst>
                    <a:ext uri="{9D8B030D-6E8A-4147-A177-3AD203B41FA5}">
                      <a16:colId xmlns:a16="http://schemas.microsoft.com/office/drawing/2014/main" val="868253493"/>
                    </a:ext>
                  </a:extLst>
                </a:gridCol>
                <a:gridCol w="660564">
                  <a:extLst>
                    <a:ext uri="{9D8B030D-6E8A-4147-A177-3AD203B41FA5}">
                      <a16:colId xmlns:a16="http://schemas.microsoft.com/office/drawing/2014/main" val="3294383361"/>
                    </a:ext>
                  </a:extLst>
                </a:gridCol>
                <a:gridCol w="557621">
                  <a:extLst>
                    <a:ext uri="{9D8B030D-6E8A-4147-A177-3AD203B41FA5}">
                      <a16:colId xmlns:a16="http://schemas.microsoft.com/office/drawing/2014/main" val="2129854388"/>
                    </a:ext>
                  </a:extLst>
                </a:gridCol>
                <a:gridCol w="701946">
                  <a:extLst>
                    <a:ext uri="{9D8B030D-6E8A-4147-A177-3AD203B41FA5}">
                      <a16:colId xmlns:a16="http://schemas.microsoft.com/office/drawing/2014/main" val="3480404196"/>
                    </a:ext>
                  </a:extLst>
                </a:gridCol>
                <a:gridCol w="577327">
                  <a:extLst>
                    <a:ext uri="{9D8B030D-6E8A-4147-A177-3AD203B41FA5}">
                      <a16:colId xmlns:a16="http://schemas.microsoft.com/office/drawing/2014/main" val="1028810616"/>
                    </a:ext>
                  </a:extLst>
                </a:gridCol>
                <a:gridCol w="606485">
                  <a:extLst>
                    <a:ext uri="{9D8B030D-6E8A-4147-A177-3AD203B41FA5}">
                      <a16:colId xmlns:a16="http://schemas.microsoft.com/office/drawing/2014/main" val="3726093956"/>
                    </a:ext>
                  </a:extLst>
                </a:gridCol>
                <a:gridCol w="681565">
                  <a:extLst>
                    <a:ext uri="{9D8B030D-6E8A-4147-A177-3AD203B41FA5}">
                      <a16:colId xmlns:a16="http://schemas.microsoft.com/office/drawing/2014/main" val="1643759256"/>
                    </a:ext>
                  </a:extLst>
                </a:gridCol>
              </a:tblGrid>
              <a:tr h="434059">
                <a:tc>
                  <a:txBody>
                    <a:bodyPr/>
                    <a:lstStyle/>
                    <a:p>
                      <a:pPr algn="l" fontAlgn="b"/>
                      <a:endParaRPr lang="ru-R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ru-RU" sz="1700" dirty="0"/>
                        <a:t>Площадь модулей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921345"/>
                  </a:ext>
                </a:extLst>
              </a:tr>
              <a:tr h="696397">
                <a:tc rowSpan="2">
                  <a:txBody>
                    <a:bodyPr/>
                    <a:lstStyle/>
                    <a:p>
                      <a:pPr algn="l" fontAlgn="b"/>
                      <a:endParaRPr lang="ru-R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dirty="0"/>
                        <a:t>BALU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BMU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FPU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Конвейер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L1I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098582"/>
                  </a:ext>
                </a:extLst>
              </a:tr>
              <a:tr h="504050">
                <a:tc vMerge="1">
                  <a:txBody>
                    <a:bodyPr/>
                    <a:lstStyle/>
                    <a:p>
                      <a:pPr algn="ctr" fontAlgn="ctr"/>
                      <a:endParaRPr lang="ru-R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ru-RU" sz="1700" dirty="0"/>
                        <a:t>Процент от площади конвейера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от площади кластера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795399"/>
                  </a:ext>
                </a:extLst>
              </a:tr>
              <a:tr h="676881">
                <a:tc>
                  <a:txBody>
                    <a:bodyPr/>
                    <a:lstStyle/>
                    <a:p>
                      <a:pPr algn="ctr" fontAlgn="ctr"/>
                      <a:endParaRPr lang="ru-R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5,61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100,00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3,97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3,71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78,02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427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762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1455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1394</Words>
  <Application>Microsoft Macintosh PowerPoint</Application>
  <PresentationFormat>Экран (16:9)</PresentationFormat>
  <Paragraphs>739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Специальное 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Jaroslaw Lesukoff</cp:lastModifiedBy>
  <cp:revision>6</cp:revision>
  <dcterms:created xsi:type="dcterms:W3CDTF">2026-05-18T10:01:55Z</dcterms:created>
  <dcterms:modified xsi:type="dcterms:W3CDTF">2026-05-18T20:39:02Z</dcterms:modified>
</cp:coreProperties>
</file>